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95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6" r:id="rId39"/>
  </p:sldIdLst>
  <p:sldSz cx="18288000" cy="10287000"/>
  <p:notesSz cx="6858000" cy="9144000"/>
  <p:embeddedFontLst>
    <p:embeddedFont>
      <p:font typeface="Arimo" panose="020B0604020202020204" charset="0"/>
      <p:regular r:id="rId41"/>
    </p:embeddedFont>
    <p:embeddedFont>
      <p:font typeface="Canva Sans" panose="020B0604020202020204" charset="0"/>
      <p:regular r:id="rId42"/>
    </p:embeddedFont>
    <p:embeddedFont>
      <p:font typeface="Canva Sans Bold" panose="020B0604020202020204" charset="0"/>
      <p:regular r:id="rId43"/>
    </p:embeddedFont>
    <p:embeddedFont>
      <p:font typeface="Heebo Bold" panose="020B0604020202020204" charset="-79"/>
      <p:regular r:id="rId44"/>
    </p:embeddedFont>
    <p:embeddedFont>
      <p:font typeface="Helios Extended" panose="020B0604020202020204" charset="0"/>
      <p:regular r:id="rId45"/>
    </p:embeddedFont>
    <p:embeddedFont>
      <p:font typeface="Helios Extended Bold" panose="020B0604020202020204" charset="0"/>
      <p:regular r:id="rId46"/>
    </p:embeddedFont>
    <p:embeddedFont>
      <p:font typeface="Lato" panose="020F0502020204030203" pitchFamily="34" charset="0"/>
      <p:regular r:id="rId47"/>
    </p:embeddedFont>
    <p:embeddedFont>
      <p:font typeface="Lato Bold" panose="020F0502020204030203" charset="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88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FBFEC5-E7AB-4D6C-9A90-58A8F5A0DC7D}" type="datetimeFigureOut">
              <a:rPr lang="en-CA" smtClean="0"/>
              <a:t>2025-04-04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9C55C-14BD-4373-8704-0142492CA7E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5750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9C1D5-81F2-4262-A6D0-31EF6F44E532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F3919-FB1A-4AA9-A403-F29678CF5770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4C089-FEC0-4A8E-BFAD-2B66FE5E2FF5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928AA-FB31-4973-B1D7-1C87E22FD67C}" type="datetime1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B8A79-81B5-4F47-9B8C-108ABC971661}" type="datetime1">
              <a:rPr lang="en-US" smtClean="0"/>
              <a:t>4/4/2025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1C805-DBC5-49F9-8169-B78B8D24C0E7}" type="datetime1">
              <a:rPr lang="en-US" smtClean="0"/>
              <a:t>4/4/2025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23019-071E-4C40-9AFD-58ED4D1AD006}" type="datetime1">
              <a:rPr lang="en-US" smtClean="0"/>
              <a:t>4/4/2025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648DC-A6EB-4ABC-B77C-3E33DA69B627}" type="datetime1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BAF2B-6C57-4278-BB94-5213B2520B12}" type="datetime1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266EB-B125-4123-AECA-A87F0E6561E6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D42C6-D1FC-4E1C-8C72-714CB248B1E9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392E0-5398-446F-BEAF-1E4E74059882}" type="datetime1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2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944078" y="703663"/>
            <a:ext cx="21722531" cy="7634140"/>
            <a:chOff x="0" y="0"/>
            <a:chExt cx="1156389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56389" cy="406400"/>
            </a:xfrm>
            <a:custGeom>
              <a:avLst/>
              <a:gdLst/>
              <a:ahLst/>
              <a:cxnLst/>
              <a:rect l="l" t="t" r="r" b="b"/>
              <a:pathLst>
                <a:path w="1156389" h="406400">
                  <a:moveTo>
                    <a:pt x="953189" y="0"/>
                  </a:moveTo>
                  <a:cubicBezTo>
                    <a:pt x="1065413" y="0"/>
                    <a:pt x="1156389" y="90976"/>
                    <a:pt x="1156389" y="203200"/>
                  </a:cubicBezTo>
                  <a:cubicBezTo>
                    <a:pt x="1156389" y="315424"/>
                    <a:pt x="1065413" y="406400"/>
                    <a:pt x="95318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56389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420579" y="6495673"/>
            <a:ext cx="13446842" cy="985184"/>
            <a:chOff x="0" y="-23812"/>
            <a:chExt cx="3541555" cy="2594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41555" cy="211847"/>
            </a:xfrm>
            <a:custGeom>
              <a:avLst/>
              <a:gdLst/>
              <a:ahLst/>
              <a:cxnLst/>
              <a:rect l="l" t="t" r="r" b="b"/>
              <a:pathLst>
                <a:path w="3541555" h="211847">
                  <a:moveTo>
                    <a:pt x="11515" y="0"/>
                  </a:moveTo>
                  <a:lnTo>
                    <a:pt x="3530040" y="0"/>
                  </a:lnTo>
                  <a:cubicBezTo>
                    <a:pt x="3536400" y="0"/>
                    <a:pt x="3541555" y="5155"/>
                    <a:pt x="3541555" y="11515"/>
                  </a:cubicBezTo>
                  <a:lnTo>
                    <a:pt x="3541555" y="200333"/>
                  </a:lnTo>
                  <a:cubicBezTo>
                    <a:pt x="3541555" y="203387"/>
                    <a:pt x="3540342" y="206315"/>
                    <a:pt x="3538182" y="208475"/>
                  </a:cubicBezTo>
                  <a:cubicBezTo>
                    <a:pt x="3536023" y="210634"/>
                    <a:pt x="3533094" y="211847"/>
                    <a:pt x="3530040" y="211847"/>
                  </a:cubicBezTo>
                  <a:lnTo>
                    <a:pt x="11515" y="211847"/>
                  </a:lnTo>
                  <a:cubicBezTo>
                    <a:pt x="8461" y="211847"/>
                    <a:pt x="5532" y="210634"/>
                    <a:pt x="3373" y="208475"/>
                  </a:cubicBezTo>
                  <a:cubicBezTo>
                    <a:pt x="1213" y="206315"/>
                    <a:pt x="0" y="203387"/>
                    <a:pt x="0" y="200333"/>
                  </a:cubicBezTo>
                  <a:lnTo>
                    <a:pt x="0" y="11515"/>
                  </a:lnTo>
                  <a:cubicBezTo>
                    <a:pt x="0" y="8461"/>
                    <a:pt x="1213" y="5532"/>
                    <a:pt x="3373" y="3373"/>
                  </a:cubicBezTo>
                  <a:cubicBezTo>
                    <a:pt x="5532" y="1213"/>
                    <a:pt x="8461" y="0"/>
                    <a:pt x="11515" y="0"/>
                  </a:cubicBezTo>
                  <a:close/>
                </a:path>
              </a:pathLst>
            </a:custGeom>
            <a:solidFill>
              <a:srgbClr val="4E6E81"/>
            </a:solidFill>
          </p:spPr>
          <p:txBody>
            <a:bodyPr anchor="ctr"/>
            <a:lstStyle/>
            <a:p>
              <a:endParaRPr lang="en-C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3812"/>
              <a:ext cx="3541555" cy="259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dirty="0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Group 13: Sulagna Nandi, Nam Nguyen, Sara Osman, Ann Maria Philip, Keira Sponagle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96963" y="3386954"/>
            <a:ext cx="14694075" cy="17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</a:pPr>
            <a:r>
              <a:rPr lang="en-US" sz="5000" b="1" spc="250">
                <a:solidFill>
                  <a:srgbClr val="4E6E81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NOVEL INSIGHTS THROUGH CELL MECHANICS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54070" y="5825354"/>
            <a:ext cx="12371749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9"/>
              </a:lnSpc>
            </a:pPr>
            <a:r>
              <a:rPr lang="en-US" sz="2299" b="1" spc="229">
                <a:solidFill>
                  <a:srgbClr val="000000"/>
                </a:solidFill>
                <a:latin typeface="Heebo Bold"/>
                <a:ea typeface="Heebo Bold"/>
                <a:cs typeface="Heebo Bold"/>
                <a:sym typeface="Heebo Bold"/>
              </a:rPr>
              <a:t>A BIOPHYSICAL APPROACH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9546" y="2174104"/>
            <a:ext cx="17268907" cy="97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 spc="274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DEVIL FACIAL TUMOUR DISEASE: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1E3A454-73EA-EE53-4CC1-B57A5B143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44010" y="955910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000" smtClean="0"/>
              <a:pPr/>
              <a:t>1</a:t>
            </a:fld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37497" y="0"/>
            <a:ext cx="9650503" cy="10287000"/>
            <a:chOff x="0" y="0"/>
            <a:chExt cx="25416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41696" cy="2709333"/>
            </a:xfrm>
            <a:custGeom>
              <a:avLst/>
              <a:gdLst/>
              <a:ahLst/>
              <a:cxnLst/>
              <a:rect l="l" t="t" r="r" b="b"/>
              <a:pathLst>
                <a:path w="2541696" h="2709333">
                  <a:moveTo>
                    <a:pt x="0" y="0"/>
                  </a:moveTo>
                  <a:lnTo>
                    <a:pt x="2541696" y="0"/>
                  </a:lnTo>
                  <a:lnTo>
                    <a:pt x="25416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  <p:txBody>
            <a:bodyPr/>
            <a:lstStyle/>
            <a:p>
              <a:endParaRPr lang="en-CA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541696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0" y="1165619"/>
            <a:ext cx="8513998" cy="6555779"/>
          </a:xfrm>
          <a:custGeom>
            <a:avLst/>
            <a:gdLst/>
            <a:ahLst/>
            <a:cxnLst/>
            <a:rect l="l" t="t" r="r" b="b"/>
            <a:pathLst>
              <a:path w="8513998" h="6555779">
                <a:moveTo>
                  <a:pt x="0" y="0"/>
                </a:moveTo>
                <a:lnTo>
                  <a:pt x="8513998" y="0"/>
                </a:lnTo>
                <a:lnTo>
                  <a:pt x="8513998" y="6555778"/>
                </a:lnTo>
                <a:lnTo>
                  <a:pt x="0" y="6555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9964688" y="547614"/>
            <a:ext cx="6996120" cy="1074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6000" b="1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VINCRISTINE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45050" y="2086398"/>
            <a:ext cx="8435396" cy="6223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6532" lvl="1" indent="-383266" algn="l">
              <a:lnSpc>
                <a:spcPts val="5503"/>
              </a:lnSpc>
              <a:buFont typeface="Arial"/>
              <a:buChar char="•"/>
            </a:pPr>
            <a:r>
              <a:rPr lang="en-US" sz="35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vinca alkaloid</a:t>
            </a:r>
            <a:r>
              <a:rPr lang="en-US" sz="3550">
                <a:solidFill>
                  <a:srgbClr val="FF66C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5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that induces </a:t>
            </a:r>
            <a:r>
              <a:rPr lang="en-US" sz="3550" b="1">
                <a:solidFill>
                  <a:srgbClr val="4E6E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apoptosis</a:t>
            </a:r>
          </a:p>
          <a:p>
            <a:pPr algn="l">
              <a:lnSpc>
                <a:spcPts val="5503"/>
              </a:lnSpc>
            </a:pPr>
            <a:endParaRPr lang="en-US" sz="3550" b="1">
              <a:solidFill>
                <a:srgbClr val="4E6E81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66532" lvl="1" indent="-383266" algn="l">
              <a:lnSpc>
                <a:spcPts val="5503"/>
              </a:lnSpc>
              <a:buFont typeface="Arial"/>
              <a:buChar char="•"/>
            </a:pPr>
            <a:r>
              <a:rPr lang="en-US" sz="35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causes </a:t>
            </a:r>
            <a:r>
              <a:rPr lang="en-US" sz="3550" b="1">
                <a:solidFill>
                  <a:srgbClr val="4E6E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cell cycle arrest</a:t>
            </a:r>
            <a:r>
              <a:rPr lang="en-US" sz="35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the metaphase</a:t>
            </a:r>
          </a:p>
          <a:p>
            <a:pPr algn="l">
              <a:lnSpc>
                <a:spcPts val="5503"/>
              </a:lnSpc>
            </a:pPr>
            <a:endParaRPr lang="en-US" sz="355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66532" lvl="1" indent="-383266" algn="l">
              <a:lnSpc>
                <a:spcPts val="5503"/>
              </a:lnSpc>
              <a:buFont typeface="Arial"/>
              <a:buChar char="•"/>
            </a:pPr>
            <a:r>
              <a:rPr lang="en-US" sz="35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disrupts microtubules in </a:t>
            </a:r>
            <a:r>
              <a:rPr lang="en-US" sz="3550" b="1">
                <a:solidFill>
                  <a:srgbClr val="4E6E8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mitosis phase of cell division</a:t>
            </a:r>
            <a:r>
              <a:rPr lang="en-US" sz="35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proliferation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1868" y="9516182"/>
            <a:ext cx="2813149" cy="415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(Škubník et al. 2021)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A66C9D-8DE7-D6B5-E194-7F0705BA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94008" y="956633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000" smtClean="0"/>
              <a:pPr/>
              <a:t>2</a:t>
            </a:fld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0043" y="0"/>
            <a:ext cx="0" cy="3768928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1209913" y="2572703"/>
            <a:ext cx="15868174" cy="497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</a:pPr>
            <a:r>
              <a:rPr lang="en-US" sz="6000" b="1" spc="300" dirty="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COMPUTATIONAL ANALYSIS USING LINEAR REGRESSION</a:t>
            </a:r>
          </a:p>
          <a:p>
            <a:pPr marL="0" lvl="0" indent="0" algn="ctr">
              <a:lnSpc>
                <a:spcPts val="7280"/>
              </a:lnSpc>
            </a:pPr>
            <a:endParaRPr lang="en-US" sz="6000" b="1" spc="300" dirty="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  <a:p>
            <a:pPr marL="0" lvl="0" indent="0" algn="ctr">
              <a:lnSpc>
                <a:spcPts val="7560"/>
              </a:lnSpc>
            </a:pPr>
            <a:r>
              <a:rPr lang="en-US" sz="5400" u="none" strike="noStrike" spc="270" dirty="0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DFTD WITH AND WITHOUT VINCRISTINE TREATMENT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BC3C2A-F471-6DD2-B23F-5CA338DA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31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000" smtClean="0"/>
              <a:pPr/>
              <a:t>3</a:t>
            </a:fld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0043" y="0"/>
            <a:ext cx="0" cy="3768928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1028700" y="1841105"/>
            <a:ext cx="10213005" cy="7417195"/>
          </a:xfrm>
          <a:custGeom>
            <a:avLst/>
            <a:gdLst/>
            <a:ahLst/>
            <a:cxnLst/>
            <a:rect l="l" t="t" r="r" b="b"/>
            <a:pathLst>
              <a:path w="10213005" h="7417195">
                <a:moveTo>
                  <a:pt x="0" y="0"/>
                </a:moveTo>
                <a:lnTo>
                  <a:pt x="10213005" y="0"/>
                </a:lnTo>
                <a:lnTo>
                  <a:pt x="10213005" y="7417195"/>
                </a:lnTo>
                <a:lnTo>
                  <a:pt x="0" y="74171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TextBox 7"/>
          <p:cNvSpPr txBox="1"/>
          <p:nvPr/>
        </p:nvSpPr>
        <p:spPr>
          <a:xfrm>
            <a:off x="11455733" y="2892706"/>
            <a:ext cx="5803567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50" dirty="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REGRESSION LINE: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b="1" spc="150" dirty="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150" dirty="0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Y = 0.9638X + 261.4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55733" y="5679794"/>
            <a:ext cx="5803567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50" dirty="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  VALUE: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b="1" spc="150" dirty="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150" dirty="0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0.9804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5558" y="353737"/>
            <a:ext cx="15868174" cy="934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DFTD CELLS WITH VINCRISTINE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43C1BF-1DCA-2AF6-03D4-C65A0785B945}"/>
              </a:ext>
            </a:extLst>
          </p:cNvPr>
          <p:cNvSpPr txBox="1"/>
          <p:nvPr/>
        </p:nvSpPr>
        <p:spPr>
          <a:xfrm>
            <a:off x="13429571" y="5590379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150" dirty="0">
                <a:solidFill>
                  <a:srgbClr val="000000"/>
                </a:solidFill>
                <a:latin typeface="Helios Extended Bold"/>
                <a:sym typeface="Helios Extended Bold"/>
              </a:rPr>
              <a:t>2</a:t>
            </a:r>
            <a:endParaRPr lang="en-CA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5CB94D-F126-D903-E299-00E3E924F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800" y="5547393"/>
            <a:ext cx="2971800" cy="82463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86C8D2A-B105-EEAA-DB19-FEABE59C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9600" y="956813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3000" smtClean="0"/>
              <a:pPr/>
              <a:t>4</a:t>
            </a:fld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0043" y="0"/>
            <a:ext cx="0" cy="3768928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1028700" y="1881596"/>
            <a:ext cx="9412063" cy="7376704"/>
          </a:xfrm>
          <a:custGeom>
            <a:avLst/>
            <a:gdLst/>
            <a:ahLst/>
            <a:cxnLst/>
            <a:rect l="l" t="t" r="r" b="b"/>
            <a:pathLst>
              <a:path w="9412063" h="7376704">
                <a:moveTo>
                  <a:pt x="0" y="0"/>
                </a:moveTo>
                <a:lnTo>
                  <a:pt x="9412063" y="0"/>
                </a:lnTo>
                <a:lnTo>
                  <a:pt x="9412063" y="7376704"/>
                </a:lnTo>
                <a:lnTo>
                  <a:pt x="0" y="73767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TextBox 7"/>
          <p:cNvSpPr txBox="1"/>
          <p:nvPr/>
        </p:nvSpPr>
        <p:spPr>
          <a:xfrm>
            <a:off x="11455733" y="2892706"/>
            <a:ext cx="5803567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5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REGRESSION LINE: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b="1" spc="15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150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Y = -8.105X + 569453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55733" y="5679794"/>
            <a:ext cx="5803567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50" dirty="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R  VALUE: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b="1" spc="150" dirty="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150" dirty="0">
                <a:solidFill>
                  <a:srgbClr val="000000"/>
                </a:solidFill>
                <a:latin typeface="Helios Extended"/>
                <a:ea typeface="Helios Extended"/>
                <a:cs typeface="Helios Extended"/>
                <a:sym typeface="Helios Extended"/>
              </a:rPr>
              <a:t>0.0056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5558" y="353737"/>
            <a:ext cx="15868174" cy="934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DFTD CELLS WITHOUT VINCRISTINE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FF3D2D-862B-0D9D-D55F-D980540DE695}"/>
              </a:ext>
            </a:extLst>
          </p:cNvPr>
          <p:cNvSpPr txBox="1"/>
          <p:nvPr/>
        </p:nvSpPr>
        <p:spPr>
          <a:xfrm>
            <a:off x="13182600" y="5679794"/>
            <a:ext cx="710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spc="150" dirty="0">
                <a:solidFill>
                  <a:srgbClr val="000000"/>
                </a:solidFill>
                <a:latin typeface="Helios Extended Bold"/>
                <a:sym typeface="Helios Extended Bold"/>
              </a:rPr>
              <a:t>  2</a:t>
            </a:r>
            <a:endParaRPr lang="en-CA" dirty="0"/>
          </a:p>
        </p:txBody>
      </p:sp>
      <p:sp>
        <p:nvSpPr>
          <p:cNvPr id="14" name="Slide Number Placeholder 14">
            <a:extLst>
              <a:ext uri="{FF2B5EF4-FFF2-40B4-BE49-F238E27FC236}">
                <a16:creationId xmlns:a16="http://schemas.microsoft.com/office/drawing/2014/main" id="{879C3A9C-FD3B-44A3-F5CD-0C4D81D5E945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5</a:t>
            </a:fld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5558" y="353737"/>
            <a:ext cx="15868174" cy="94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INVESTIGATING SEMI-RESISTANCE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08205" y="2182697"/>
            <a:ext cx="15271590" cy="3804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 will examine vincristine’s mechanism of action in order to further investigate the semi-resistance of DFTD cells.</a:t>
            </a:r>
          </a:p>
          <a:p>
            <a:pPr algn="just">
              <a:lnSpc>
                <a:spcPts val="3839"/>
              </a:lnSpc>
            </a:pPr>
            <a:endParaRPr lang="en-US" sz="3199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5439"/>
              </a:lnSpc>
            </a:pPr>
            <a:r>
              <a:rPr lang="en-US" sz="3399" b="1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Why is vincristine-induced mitotic arrest not leading to apoptosis?</a:t>
            </a:r>
          </a:p>
          <a:p>
            <a:pPr algn="just">
              <a:lnSpc>
                <a:spcPts val="5439"/>
              </a:lnSpc>
            </a:pPr>
            <a:endParaRPr lang="en-US" sz="3399" b="1">
              <a:solidFill>
                <a:srgbClr val="4E6E81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just">
              <a:lnSpc>
                <a:spcPts val="5439"/>
              </a:lnSpc>
            </a:pPr>
            <a:endParaRPr lang="en-US" sz="3399" b="1">
              <a:solidFill>
                <a:srgbClr val="4E6E8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50043" y="0"/>
            <a:ext cx="0" cy="3768928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10" name="Slide Number Placeholder 14">
            <a:extLst>
              <a:ext uri="{FF2B5EF4-FFF2-40B4-BE49-F238E27FC236}">
                <a16:creationId xmlns:a16="http://schemas.microsoft.com/office/drawing/2014/main" id="{52022CB6-5100-F0BD-DF2B-09D33DEBA1CC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6</a:t>
            </a:fld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5558" y="353737"/>
            <a:ext cx="15868174" cy="94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INVESTIGATING SEMI-RESISTANCE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08205" y="2182697"/>
            <a:ext cx="15271590" cy="3804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 will examine vincristine’s mechanism of action in order to further investigate the semi-resistance of DFTD cells.</a:t>
            </a:r>
          </a:p>
          <a:p>
            <a:pPr algn="just">
              <a:lnSpc>
                <a:spcPts val="3839"/>
              </a:lnSpc>
            </a:pPr>
            <a:endParaRPr lang="en-US" sz="3199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5439"/>
              </a:lnSpc>
            </a:pPr>
            <a:r>
              <a:rPr lang="en-US" sz="3399" b="1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Why is vincristine-induced mitotic arrest not leading to apoptosis?</a:t>
            </a:r>
          </a:p>
          <a:p>
            <a:pPr algn="just">
              <a:lnSpc>
                <a:spcPts val="5439"/>
              </a:lnSpc>
            </a:pPr>
            <a:endParaRPr lang="en-US" sz="3399" b="1">
              <a:solidFill>
                <a:srgbClr val="4E6E81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just">
              <a:lnSpc>
                <a:spcPts val="5439"/>
              </a:lnSpc>
            </a:pPr>
            <a:endParaRPr lang="en-US" sz="3399" b="1">
              <a:solidFill>
                <a:srgbClr val="4E6E8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50043" y="0"/>
            <a:ext cx="0" cy="3768928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4940378" y="5206568"/>
          <a:ext cx="8407244" cy="949527"/>
        </p:xfrm>
        <a:graphic>
          <a:graphicData uri="http://schemas.openxmlformats.org/drawingml/2006/table">
            <a:tbl>
              <a:tblPr/>
              <a:tblGrid>
                <a:gridCol w="8407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9527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Evasion of apoptosis is a hallmark of cancer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AutoShape 9"/>
          <p:cNvSpPr/>
          <p:nvPr/>
        </p:nvSpPr>
        <p:spPr>
          <a:xfrm>
            <a:off x="9124950" y="6515322"/>
            <a:ext cx="0" cy="1451484"/>
          </a:xfrm>
          <a:prstGeom prst="line">
            <a:avLst/>
          </a:prstGeom>
          <a:ln w="76200" cap="flat">
            <a:solidFill>
              <a:srgbClr val="4E6E8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Box 10"/>
          <p:cNvSpPr txBox="1"/>
          <p:nvPr/>
        </p:nvSpPr>
        <p:spPr>
          <a:xfrm>
            <a:off x="2108225" y="8269149"/>
            <a:ext cx="14071550" cy="53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Cytoskeletal restructuring is a pathway through which cells can evade apoptosis.</a:t>
            </a:r>
          </a:p>
        </p:txBody>
      </p:sp>
      <p:sp>
        <p:nvSpPr>
          <p:cNvPr id="13" name="Slide Number Placeholder 14">
            <a:extLst>
              <a:ext uri="{FF2B5EF4-FFF2-40B4-BE49-F238E27FC236}">
                <a16:creationId xmlns:a16="http://schemas.microsoft.com/office/drawing/2014/main" id="{CAA84C47-ED49-5C10-2619-E5236C4B0229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7</a:t>
            </a:fld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5558" y="353737"/>
            <a:ext cx="15868174" cy="94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BIOPHYSICS AND DFTD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08205" y="2182697"/>
            <a:ext cx="15271590" cy="5871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biophysical perspective offers novel insights into DFTD treatment.</a:t>
            </a:r>
          </a:p>
          <a:p>
            <a:pPr algn="just">
              <a:lnSpc>
                <a:spcPts val="5119"/>
              </a:lnSpc>
            </a:pPr>
            <a:endParaRPr lang="en-US" sz="3199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Biophysics and cancer research:</a:t>
            </a:r>
          </a:p>
          <a:p>
            <a:pPr marL="690874" lvl="1" indent="-345437" algn="just">
              <a:lnSpc>
                <a:spcPts val="511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vincristine treatment </a:t>
            </a:r>
            <a:r>
              <a:rPr lang="en-US" sz="3199" b="1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decreases stiffness</a:t>
            </a: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in cancer cells </a:t>
            </a:r>
          </a:p>
          <a:p>
            <a:pPr marL="690874" lvl="1" indent="-345437" algn="just">
              <a:lnSpc>
                <a:spcPts val="511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hypothesized cytoskeletal repair mechanism countering this softening</a:t>
            </a:r>
          </a:p>
          <a:p>
            <a:pPr marL="1381748" lvl="2" indent="-460583" algn="just">
              <a:lnSpc>
                <a:spcPts val="5119"/>
              </a:lnSpc>
              <a:buFont typeface="Arial"/>
              <a:buChar char="⚬"/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repair causes choline metabolism,</a:t>
            </a:r>
            <a:r>
              <a:rPr lang="en-US" sz="3199" b="1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 increasing total choline (tCho) levels</a:t>
            </a:r>
          </a:p>
          <a:p>
            <a:pPr algn="just">
              <a:lnSpc>
                <a:spcPts val="5119"/>
              </a:lnSpc>
            </a:pPr>
            <a:endParaRPr lang="en-US" sz="3199" b="1">
              <a:solidFill>
                <a:srgbClr val="4E6E81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just">
              <a:lnSpc>
                <a:spcPts val="5439"/>
              </a:lnSpc>
            </a:pPr>
            <a:endParaRPr lang="en-US" sz="3199" b="1">
              <a:solidFill>
                <a:srgbClr val="4E6E81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just">
              <a:lnSpc>
                <a:spcPts val="5439"/>
              </a:lnSpc>
            </a:pPr>
            <a:endParaRPr lang="en-US" sz="3199" b="1">
              <a:solidFill>
                <a:srgbClr val="4E6E81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50043" y="0"/>
            <a:ext cx="0" cy="3768928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10" name="Slide Number Placeholder 14">
            <a:extLst>
              <a:ext uri="{FF2B5EF4-FFF2-40B4-BE49-F238E27FC236}">
                <a16:creationId xmlns:a16="http://schemas.microsoft.com/office/drawing/2014/main" id="{12FBD9C2-CEBC-7185-B56E-4ADFA8231813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8</a:t>
            </a:fld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5558" y="353737"/>
            <a:ext cx="15868174" cy="94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BIOPHYSICS AND DFTD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08205" y="2182697"/>
            <a:ext cx="15271590" cy="7185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19"/>
              </a:lnSpc>
            </a:pPr>
            <a:r>
              <a:rPr lang="en-US" sz="31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biophysical perspective offers novel insights into DFTD treatment.</a:t>
            </a:r>
          </a:p>
          <a:p>
            <a:pPr algn="just">
              <a:lnSpc>
                <a:spcPts val="5119"/>
              </a:lnSpc>
            </a:pPr>
            <a:endParaRPr lang="en-US" sz="31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5119"/>
              </a:lnSpc>
            </a:pPr>
            <a:r>
              <a:rPr lang="en-US" sz="31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Biophysics and cancer research:</a:t>
            </a:r>
          </a:p>
          <a:p>
            <a:pPr marL="690874" lvl="1" indent="-345437" algn="just">
              <a:lnSpc>
                <a:spcPts val="5119"/>
              </a:lnSpc>
              <a:buFont typeface="Arial"/>
              <a:buChar char="•"/>
            </a:pPr>
            <a:r>
              <a:rPr lang="en-US" sz="31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vincristine treatment </a:t>
            </a:r>
            <a:r>
              <a:rPr lang="en-US" sz="3199" b="1" dirty="0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decreases stiffness</a:t>
            </a:r>
            <a:r>
              <a:rPr lang="en-US" sz="31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in cancer cells </a:t>
            </a:r>
          </a:p>
          <a:p>
            <a:pPr marL="690874" lvl="1" indent="-345437" algn="just">
              <a:lnSpc>
                <a:spcPts val="5119"/>
              </a:lnSpc>
              <a:buFont typeface="Arial"/>
              <a:buChar char="•"/>
            </a:pPr>
            <a:r>
              <a:rPr lang="en-US" sz="31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hypothesized cytoskeletal repair mechanism countering this softening</a:t>
            </a:r>
          </a:p>
          <a:p>
            <a:pPr marL="1381748" lvl="2" indent="-460583" algn="just">
              <a:lnSpc>
                <a:spcPts val="5119"/>
              </a:lnSpc>
              <a:buFont typeface="Arial"/>
              <a:buChar char="⚬"/>
            </a:pPr>
            <a:r>
              <a:rPr lang="en-US" sz="31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repair causes choline metabolism, </a:t>
            </a:r>
            <a:r>
              <a:rPr lang="en-US" sz="3199" b="1" dirty="0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increasing total choline (</a:t>
            </a:r>
            <a:r>
              <a:rPr lang="en-US" sz="3199" b="1" dirty="0" err="1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tCho</a:t>
            </a:r>
            <a:r>
              <a:rPr lang="en-US" sz="3199" b="1" dirty="0">
                <a:solidFill>
                  <a:srgbClr val="4E6E81"/>
                </a:solidFill>
                <a:latin typeface="Lato Bold"/>
                <a:ea typeface="Lato Bold"/>
                <a:cs typeface="Lato Bold"/>
                <a:sym typeface="Lato Bold"/>
              </a:rPr>
              <a:t>) levels</a:t>
            </a:r>
          </a:p>
          <a:p>
            <a:pPr algn="just">
              <a:lnSpc>
                <a:spcPts val="5119"/>
              </a:lnSpc>
            </a:pPr>
            <a:endParaRPr lang="en-US" sz="3199" b="1" dirty="0">
              <a:solidFill>
                <a:srgbClr val="4E6E81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algn="ctr">
              <a:lnSpc>
                <a:spcPts val="5279"/>
              </a:lnSpc>
            </a:pPr>
            <a:r>
              <a:rPr lang="en-US" sz="32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Our proposed study’s question:</a:t>
            </a:r>
          </a:p>
          <a:p>
            <a:pPr algn="just">
              <a:lnSpc>
                <a:spcPts val="5119"/>
              </a:lnSpc>
            </a:pPr>
            <a:endParaRPr lang="en-US" sz="32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5439"/>
              </a:lnSpc>
            </a:pPr>
            <a:endParaRPr lang="en-US" sz="32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5439"/>
              </a:lnSpc>
            </a:pPr>
            <a:endParaRPr lang="en-US" sz="3299" dirty="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50043" y="0"/>
            <a:ext cx="0" cy="3768928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434541" y="7600950"/>
          <a:ext cx="15418917" cy="1657350"/>
        </p:xfrm>
        <a:graphic>
          <a:graphicData uri="http://schemas.openxmlformats.org/drawingml/2006/table">
            <a:tbl>
              <a:tblPr/>
              <a:tblGrid>
                <a:gridCol w="15418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7350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4E6E81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How does vincristine alter cell stiffness in DFT1 cells and what changes in choline metabolism contribute to the cell’s response to vincristine treatment?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A847D790-970D-50B6-269F-F3D5A5763EC8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9</a:t>
            </a:fld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8"/>
          <p:cNvSpPr/>
          <p:nvPr/>
        </p:nvSpPr>
        <p:spPr>
          <a:xfrm flipH="1">
            <a:off x="1033463" y="0"/>
            <a:ext cx="0" cy="3334176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Box 9"/>
          <p:cNvSpPr txBox="1"/>
          <p:nvPr/>
        </p:nvSpPr>
        <p:spPr>
          <a:xfrm>
            <a:off x="1277190" y="2509495"/>
            <a:ext cx="4775418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</a:pPr>
            <a:r>
              <a:rPr lang="en-US" sz="3499" b="1" spc="34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TECHNOLOGY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71682" y="2141513"/>
            <a:ext cx="9773819" cy="1266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Atomic Force Microscopy (AFM) Nanoindentation</a:t>
            </a:r>
          </a:p>
          <a:p>
            <a:pPr marL="0" lvl="0" indent="0" algn="ctr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Magnetic Resonance Spectroscopy (MRS)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95558" y="353737"/>
            <a:ext cx="15510488" cy="869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METHODS OVERVIEW</a:t>
            </a:r>
          </a:p>
        </p:txBody>
      </p:sp>
      <p:sp>
        <p:nvSpPr>
          <p:cNvPr id="14" name="Slide Number Placeholder 14">
            <a:extLst>
              <a:ext uri="{FF2B5EF4-FFF2-40B4-BE49-F238E27FC236}">
                <a16:creationId xmlns:a16="http://schemas.microsoft.com/office/drawing/2014/main" id="{523F9D30-3F7E-C1D6-2A49-98ABC0E0DAAB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10</a:t>
            </a:fld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8"/>
          <p:cNvSpPr/>
          <p:nvPr/>
        </p:nvSpPr>
        <p:spPr>
          <a:xfrm flipH="1">
            <a:off x="1033463" y="0"/>
            <a:ext cx="0" cy="3334176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Box 9"/>
          <p:cNvSpPr txBox="1"/>
          <p:nvPr/>
        </p:nvSpPr>
        <p:spPr>
          <a:xfrm>
            <a:off x="1277190" y="2509495"/>
            <a:ext cx="4775418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</a:pPr>
            <a:r>
              <a:rPr lang="en-US" sz="3499" b="1" spc="34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TECHNOLOGY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7190" y="4599863"/>
            <a:ext cx="4775418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</a:pPr>
            <a:r>
              <a:rPr lang="en-US" sz="3499" b="1" spc="34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CELL LINES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71682" y="2141513"/>
            <a:ext cx="9773819" cy="1266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Atomic Force Microscopy (AFM) Nanoindentation</a:t>
            </a:r>
          </a:p>
          <a:p>
            <a:pPr marL="0" lvl="0" indent="0" algn="ctr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Magnetic Resonance Spectroscopy (MRS)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78036" y="4525009"/>
            <a:ext cx="9161111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DFT1 and human neuroblastoma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5558" y="353737"/>
            <a:ext cx="15510487" cy="869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METHODS OVERVIEW</a:t>
            </a:r>
          </a:p>
        </p:txBody>
      </p:sp>
      <p:sp>
        <p:nvSpPr>
          <p:cNvPr id="16" name="Slide Number Placeholder 14">
            <a:extLst>
              <a:ext uri="{FF2B5EF4-FFF2-40B4-BE49-F238E27FC236}">
                <a16:creationId xmlns:a16="http://schemas.microsoft.com/office/drawing/2014/main" id="{40A21441-66F4-EC3F-D39F-DB54CBA26BCE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11</a:t>
            </a:fld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8"/>
          <p:cNvSpPr/>
          <p:nvPr/>
        </p:nvSpPr>
        <p:spPr>
          <a:xfrm flipH="1">
            <a:off x="1033463" y="0"/>
            <a:ext cx="0" cy="3334176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9" name="AutoShape 9"/>
          <p:cNvSpPr/>
          <p:nvPr/>
        </p:nvSpPr>
        <p:spPr>
          <a:xfrm flipV="1">
            <a:off x="6936700" y="7010971"/>
            <a:ext cx="8443783" cy="19050"/>
          </a:xfrm>
          <a:prstGeom prst="line">
            <a:avLst/>
          </a:prstGeom>
          <a:ln w="38100" cap="flat">
            <a:solidFill>
              <a:srgbClr val="4E6E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grpSp>
        <p:nvGrpSpPr>
          <p:cNvPr id="10" name="Group 10"/>
          <p:cNvGrpSpPr/>
          <p:nvPr/>
        </p:nvGrpSpPr>
        <p:grpSpPr>
          <a:xfrm>
            <a:off x="6715808" y="6801127"/>
            <a:ext cx="441785" cy="44178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E81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77190" y="2509495"/>
            <a:ext cx="4775418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</a:pPr>
            <a:r>
              <a:rPr lang="en-US" sz="3499" b="1" spc="34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TECHNOLOGY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7190" y="4599863"/>
            <a:ext cx="4775418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</a:pPr>
            <a:r>
              <a:rPr lang="en-US" sz="3499" b="1" spc="34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CELL LINES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71682" y="2141513"/>
            <a:ext cx="9773819" cy="1266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Atomic Force Microscopy (AFM) Nanoindentation</a:t>
            </a:r>
          </a:p>
          <a:p>
            <a:pPr marL="0" lvl="0" indent="0" algn="ctr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Magnetic Resonance Spectroscopy (MRS)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78036" y="4525009"/>
            <a:ext cx="9161111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DFT1 and human neuroblastoma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95558" y="353737"/>
            <a:ext cx="15868174" cy="94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METHODS OVERVIEW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7190" y="6690231"/>
            <a:ext cx="4775418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</a:pPr>
            <a:r>
              <a:rPr lang="en-US" sz="3499" b="1" spc="34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DURATION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775369" y="6801127"/>
            <a:ext cx="441785" cy="44178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E81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826753" y="6809129"/>
            <a:ext cx="441785" cy="441785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E81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882226" y="6790079"/>
            <a:ext cx="441785" cy="441785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E81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937699" y="6809129"/>
            <a:ext cx="441785" cy="441785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E81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5208534" y="6790079"/>
            <a:ext cx="441785" cy="441785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E81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6493745" y="7301188"/>
            <a:ext cx="885910" cy="473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892602" y="7368498"/>
            <a:ext cx="207318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spc="23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870912" y="7358656"/>
            <a:ext cx="35346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926385" y="7368498"/>
            <a:ext cx="35346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18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981858" y="7368498"/>
            <a:ext cx="35346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252693" y="7368498"/>
            <a:ext cx="35346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48</a:t>
            </a:r>
          </a:p>
        </p:txBody>
      </p:sp>
      <p:sp>
        <p:nvSpPr>
          <p:cNvPr id="42" name="AutoShape 42"/>
          <p:cNvSpPr/>
          <p:nvPr/>
        </p:nvSpPr>
        <p:spPr>
          <a:xfrm>
            <a:off x="6737887" y="6404316"/>
            <a:ext cx="4420704" cy="0"/>
          </a:xfrm>
          <a:prstGeom prst="line">
            <a:avLst/>
          </a:prstGeom>
          <a:ln w="57150" cap="flat">
            <a:solidFill>
              <a:srgbClr val="4E6E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Box 43"/>
          <p:cNvSpPr txBox="1"/>
          <p:nvPr/>
        </p:nvSpPr>
        <p:spPr>
          <a:xfrm>
            <a:off x="6845735" y="5712800"/>
            <a:ext cx="4403822" cy="520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19"/>
              </a:lnSpc>
            </a:pPr>
            <a:r>
              <a:rPr lang="en-US" sz="2699">
                <a:solidFill>
                  <a:srgbClr val="4E6E81"/>
                </a:solidFill>
                <a:latin typeface="Lato"/>
                <a:ea typeface="Lato"/>
                <a:cs typeface="Lato"/>
                <a:sym typeface="Lato"/>
              </a:rPr>
              <a:t>Apoptosis</a:t>
            </a:r>
          </a:p>
        </p:txBody>
      </p:sp>
      <p:sp>
        <p:nvSpPr>
          <p:cNvPr id="44" name="AutoShape 44"/>
          <p:cNvSpPr/>
          <p:nvPr/>
        </p:nvSpPr>
        <p:spPr>
          <a:xfrm>
            <a:off x="11119630" y="6404316"/>
            <a:ext cx="4309796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Box 45"/>
          <p:cNvSpPr txBox="1"/>
          <p:nvPr/>
        </p:nvSpPr>
        <p:spPr>
          <a:xfrm>
            <a:off x="8697762" y="5790533"/>
            <a:ext cx="9161111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Caspase-independent cell death</a:t>
            </a:r>
          </a:p>
        </p:txBody>
      </p:sp>
      <p:sp>
        <p:nvSpPr>
          <p:cNvPr id="46" name="AutoShape 42">
            <a:extLst>
              <a:ext uri="{FF2B5EF4-FFF2-40B4-BE49-F238E27FC236}">
                <a16:creationId xmlns:a16="http://schemas.microsoft.com/office/drawing/2014/main" id="{34460D17-AD47-2A5F-C7DB-EAE2D92B4558}"/>
              </a:ext>
            </a:extLst>
          </p:cNvPr>
          <p:cNvSpPr/>
          <p:nvPr/>
        </p:nvSpPr>
        <p:spPr>
          <a:xfrm flipH="1">
            <a:off x="11103175" y="6297925"/>
            <a:ext cx="0" cy="212781"/>
          </a:xfrm>
          <a:prstGeom prst="line">
            <a:avLst/>
          </a:prstGeom>
          <a:ln w="57150" cap="flat">
            <a:solidFill>
              <a:srgbClr val="4E6E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49" name="Slide Number Placeholder 14">
            <a:extLst>
              <a:ext uri="{FF2B5EF4-FFF2-40B4-BE49-F238E27FC236}">
                <a16:creationId xmlns:a16="http://schemas.microsoft.com/office/drawing/2014/main" id="{7124014C-0403-5D60-62C6-12BB9DF94855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12</a:t>
            </a:fld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68573-8F3A-4745-FAAB-D3C4586DF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8">
            <a:extLst>
              <a:ext uri="{FF2B5EF4-FFF2-40B4-BE49-F238E27FC236}">
                <a16:creationId xmlns:a16="http://schemas.microsoft.com/office/drawing/2014/main" id="{9EC479EC-9CC6-CD14-4ABC-E22212AB676D}"/>
              </a:ext>
            </a:extLst>
          </p:cNvPr>
          <p:cNvSpPr/>
          <p:nvPr/>
        </p:nvSpPr>
        <p:spPr>
          <a:xfrm flipH="1">
            <a:off x="1033463" y="0"/>
            <a:ext cx="0" cy="3334176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4EBDDC0E-9DB3-1720-A9A3-00527256CCD0}"/>
              </a:ext>
            </a:extLst>
          </p:cNvPr>
          <p:cNvSpPr/>
          <p:nvPr/>
        </p:nvSpPr>
        <p:spPr>
          <a:xfrm flipV="1">
            <a:off x="6936700" y="7010971"/>
            <a:ext cx="8443783" cy="19050"/>
          </a:xfrm>
          <a:prstGeom prst="line">
            <a:avLst/>
          </a:prstGeom>
          <a:ln w="38100" cap="flat">
            <a:solidFill>
              <a:srgbClr val="4E6E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5E47304-BA23-1929-B056-3CAE4ED8AA19}"/>
              </a:ext>
            </a:extLst>
          </p:cNvPr>
          <p:cNvGrpSpPr/>
          <p:nvPr/>
        </p:nvGrpSpPr>
        <p:grpSpPr>
          <a:xfrm>
            <a:off x="6715808" y="6801127"/>
            <a:ext cx="441785" cy="441785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427FFF5-2171-9CB5-AC59-A3B176210C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E81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FBF6F61-E60D-D637-395F-C22F5650E61B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62C117BC-C264-91DD-DFA2-D2DD8778DBC9}"/>
              </a:ext>
            </a:extLst>
          </p:cNvPr>
          <p:cNvSpPr txBox="1"/>
          <p:nvPr/>
        </p:nvSpPr>
        <p:spPr>
          <a:xfrm>
            <a:off x="1277190" y="2509495"/>
            <a:ext cx="4775418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</a:pPr>
            <a:r>
              <a:rPr lang="en-US" sz="3499" b="1" spc="34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TECHNOLOGY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870D67B-720B-8943-D7F3-A8FFA4F8D8A4}"/>
              </a:ext>
            </a:extLst>
          </p:cNvPr>
          <p:cNvSpPr txBox="1"/>
          <p:nvPr/>
        </p:nvSpPr>
        <p:spPr>
          <a:xfrm>
            <a:off x="1277190" y="4599863"/>
            <a:ext cx="4775418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</a:pPr>
            <a:r>
              <a:rPr lang="en-US" sz="3499" b="1" spc="34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CELL LINES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8A50520-B5D9-83CD-E280-C841959F235D}"/>
              </a:ext>
            </a:extLst>
          </p:cNvPr>
          <p:cNvSpPr txBox="1"/>
          <p:nvPr/>
        </p:nvSpPr>
        <p:spPr>
          <a:xfrm>
            <a:off x="6271682" y="2141513"/>
            <a:ext cx="9773819" cy="1266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Atomic Force Microscopy (AFM) Nanoindentation</a:t>
            </a:r>
          </a:p>
          <a:p>
            <a:pPr marL="0" lvl="0" indent="0" algn="ctr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Magnetic Resonance Spectroscopy (MRS)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BD163C6-B4F0-2490-32A3-CEB191EB7FA2}"/>
              </a:ext>
            </a:extLst>
          </p:cNvPr>
          <p:cNvSpPr txBox="1"/>
          <p:nvPr/>
        </p:nvSpPr>
        <p:spPr>
          <a:xfrm>
            <a:off x="6578036" y="4525009"/>
            <a:ext cx="9161111" cy="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19"/>
              </a:lnSpc>
            </a:pPr>
            <a:r>
              <a:rPr lang="en-US" sz="31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DFT1 and human neuroblastoma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2752099-C25E-06D7-2D76-E34EEE7EEB73}"/>
              </a:ext>
            </a:extLst>
          </p:cNvPr>
          <p:cNvSpPr txBox="1"/>
          <p:nvPr/>
        </p:nvSpPr>
        <p:spPr>
          <a:xfrm>
            <a:off x="1495558" y="353737"/>
            <a:ext cx="15868174" cy="94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METHODS OVERVIEW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00B90C1-BA46-60EF-CE5D-CF9C210AE77C}"/>
              </a:ext>
            </a:extLst>
          </p:cNvPr>
          <p:cNvSpPr txBox="1"/>
          <p:nvPr/>
        </p:nvSpPr>
        <p:spPr>
          <a:xfrm>
            <a:off x="1277190" y="6690231"/>
            <a:ext cx="4775418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</a:pPr>
            <a:r>
              <a:rPr lang="en-US" sz="3499" b="1" spc="34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DURATION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46B41F1-E5FC-A394-DC74-A36070001A9F}"/>
              </a:ext>
            </a:extLst>
          </p:cNvPr>
          <p:cNvSpPr txBox="1"/>
          <p:nvPr/>
        </p:nvSpPr>
        <p:spPr>
          <a:xfrm>
            <a:off x="1277190" y="8782557"/>
            <a:ext cx="4775418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</a:pPr>
            <a:r>
              <a:rPr lang="en-US" sz="3499" b="1" spc="349">
                <a:solidFill>
                  <a:srgbClr val="4E6E81"/>
                </a:solidFill>
                <a:latin typeface="Heebo Bold"/>
                <a:ea typeface="Heebo Bold"/>
                <a:cs typeface="Heebo Bold"/>
                <a:sym typeface="Heebo Bold"/>
              </a:rPr>
              <a:t>CONTROLS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6EC9A16-E595-1E77-794A-4062FC5218D4}"/>
              </a:ext>
            </a:extLst>
          </p:cNvPr>
          <p:cNvSpPr txBox="1"/>
          <p:nvPr/>
        </p:nvSpPr>
        <p:spPr>
          <a:xfrm>
            <a:off x="6271682" y="8678657"/>
            <a:ext cx="10632940" cy="548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39"/>
              </a:lnSpc>
            </a:pPr>
            <a:r>
              <a:rPr lang="en-US" sz="28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Untreated DFT1 and human neuroblastoma experimental groups</a:t>
            </a:r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3FB9ABC4-3D5C-0E42-B956-70525F3721DF}"/>
              </a:ext>
            </a:extLst>
          </p:cNvPr>
          <p:cNvGrpSpPr/>
          <p:nvPr/>
        </p:nvGrpSpPr>
        <p:grpSpPr>
          <a:xfrm>
            <a:off x="7775369" y="6801127"/>
            <a:ext cx="441785" cy="441785"/>
            <a:chOff x="0" y="0"/>
            <a:chExt cx="812800" cy="8128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4DDD814-1C0B-72F1-C5D3-6568845387F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E81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A1C482F9-EB81-ECE1-DCF5-D6BA8A73B253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BD300DB5-E22E-2757-43E9-BAA70603327D}"/>
              </a:ext>
            </a:extLst>
          </p:cNvPr>
          <p:cNvGrpSpPr/>
          <p:nvPr/>
        </p:nvGrpSpPr>
        <p:grpSpPr>
          <a:xfrm>
            <a:off x="8826753" y="6809129"/>
            <a:ext cx="441785" cy="441785"/>
            <a:chOff x="0" y="0"/>
            <a:chExt cx="812800" cy="8128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5CB7151D-115A-02B2-D19E-B7118A24007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E81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9B71B40E-E2A0-EAC6-C33C-AB0939D6C948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FB660A6D-17A9-62C0-7708-0F1306FD5021}"/>
              </a:ext>
            </a:extLst>
          </p:cNvPr>
          <p:cNvGrpSpPr/>
          <p:nvPr/>
        </p:nvGrpSpPr>
        <p:grpSpPr>
          <a:xfrm>
            <a:off x="9882226" y="6790079"/>
            <a:ext cx="441785" cy="441785"/>
            <a:chOff x="0" y="0"/>
            <a:chExt cx="812800" cy="8128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48AB378C-11A9-2E14-3BF0-DD7D85F7C85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E81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9F5AF9BE-9EDA-1062-A2FF-B98411B670CD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6BB5869D-1953-62A9-BDAF-2D1046224EF0}"/>
              </a:ext>
            </a:extLst>
          </p:cNvPr>
          <p:cNvGrpSpPr/>
          <p:nvPr/>
        </p:nvGrpSpPr>
        <p:grpSpPr>
          <a:xfrm>
            <a:off x="10937699" y="6809129"/>
            <a:ext cx="441785" cy="441785"/>
            <a:chOff x="0" y="0"/>
            <a:chExt cx="812800" cy="812800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4D1E0743-457A-6121-ACE9-872FF6E67E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E81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2297FD54-CF69-D026-194F-85F2E60BD5F5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B2670491-F00B-6EB6-D52D-A4C34D684A6E}"/>
              </a:ext>
            </a:extLst>
          </p:cNvPr>
          <p:cNvGrpSpPr/>
          <p:nvPr/>
        </p:nvGrpSpPr>
        <p:grpSpPr>
          <a:xfrm>
            <a:off x="15208534" y="6790079"/>
            <a:ext cx="441785" cy="441785"/>
            <a:chOff x="0" y="0"/>
            <a:chExt cx="812800" cy="812800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5D88EA31-F10E-D4CA-B006-632384219CC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E81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822C3E65-4B90-AC06-7970-C0142EAFF2B9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6" name="TextBox 36">
            <a:extLst>
              <a:ext uri="{FF2B5EF4-FFF2-40B4-BE49-F238E27FC236}">
                <a16:creationId xmlns:a16="http://schemas.microsoft.com/office/drawing/2014/main" id="{27CEAF12-B562-DC3F-2CAE-55D3EEB4E679}"/>
              </a:ext>
            </a:extLst>
          </p:cNvPr>
          <p:cNvSpPr txBox="1"/>
          <p:nvPr/>
        </p:nvSpPr>
        <p:spPr>
          <a:xfrm>
            <a:off x="6493745" y="7301188"/>
            <a:ext cx="885910" cy="473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0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FECA0108-6899-09CA-3EF0-E27938676DFA}"/>
              </a:ext>
            </a:extLst>
          </p:cNvPr>
          <p:cNvSpPr txBox="1"/>
          <p:nvPr/>
        </p:nvSpPr>
        <p:spPr>
          <a:xfrm>
            <a:off x="7892602" y="7368498"/>
            <a:ext cx="207318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spc="23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6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1786C0CB-8BFA-23C7-566E-DF1D38486978}"/>
              </a:ext>
            </a:extLst>
          </p:cNvPr>
          <p:cNvSpPr txBox="1"/>
          <p:nvPr/>
        </p:nvSpPr>
        <p:spPr>
          <a:xfrm>
            <a:off x="8870912" y="7358656"/>
            <a:ext cx="35346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12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A7021357-A548-357D-B271-24371273572F}"/>
              </a:ext>
            </a:extLst>
          </p:cNvPr>
          <p:cNvSpPr txBox="1"/>
          <p:nvPr/>
        </p:nvSpPr>
        <p:spPr>
          <a:xfrm>
            <a:off x="9926385" y="7368498"/>
            <a:ext cx="35346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18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B8B30994-CCE9-E328-A511-4EC71F29698E}"/>
              </a:ext>
            </a:extLst>
          </p:cNvPr>
          <p:cNvSpPr txBox="1"/>
          <p:nvPr/>
        </p:nvSpPr>
        <p:spPr>
          <a:xfrm>
            <a:off x="10981858" y="7368498"/>
            <a:ext cx="35346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24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09E1F622-B2D8-D2FB-4A55-8DE8CC4F5F02}"/>
              </a:ext>
            </a:extLst>
          </p:cNvPr>
          <p:cNvSpPr txBox="1"/>
          <p:nvPr/>
        </p:nvSpPr>
        <p:spPr>
          <a:xfrm>
            <a:off x="15252693" y="7368498"/>
            <a:ext cx="353467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48</a:t>
            </a:r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1DDBB785-2A4E-1F2B-F816-AFE5FE150BC5}"/>
              </a:ext>
            </a:extLst>
          </p:cNvPr>
          <p:cNvSpPr/>
          <p:nvPr/>
        </p:nvSpPr>
        <p:spPr>
          <a:xfrm>
            <a:off x="6737887" y="6404316"/>
            <a:ext cx="4420704" cy="0"/>
          </a:xfrm>
          <a:prstGeom prst="line">
            <a:avLst/>
          </a:prstGeom>
          <a:ln w="57150" cap="flat">
            <a:solidFill>
              <a:srgbClr val="4E6E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E0BC02E1-A663-1FC9-8C4F-3F7A3FE76EF7}"/>
              </a:ext>
            </a:extLst>
          </p:cNvPr>
          <p:cNvSpPr txBox="1"/>
          <p:nvPr/>
        </p:nvSpPr>
        <p:spPr>
          <a:xfrm>
            <a:off x="6845735" y="5712800"/>
            <a:ext cx="4403822" cy="520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19"/>
              </a:lnSpc>
            </a:pPr>
            <a:r>
              <a:rPr lang="en-US" sz="2699">
                <a:solidFill>
                  <a:srgbClr val="4E6E81"/>
                </a:solidFill>
                <a:latin typeface="Lato"/>
                <a:ea typeface="Lato"/>
                <a:cs typeface="Lato"/>
                <a:sym typeface="Lato"/>
              </a:rPr>
              <a:t>Apoptosis</a:t>
            </a:r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BE10BBE2-62BB-945E-CE99-E2BB300725C0}"/>
              </a:ext>
            </a:extLst>
          </p:cNvPr>
          <p:cNvSpPr/>
          <p:nvPr/>
        </p:nvSpPr>
        <p:spPr>
          <a:xfrm>
            <a:off x="11119630" y="6404316"/>
            <a:ext cx="4309796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CDA2AC48-D6EB-0C95-03B6-577BAAEC8DF3}"/>
              </a:ext>
            </a:extLst>
          </p:cNvPr>
          <p:cNvSpPr txBox="1"/>
          <p:nvPr/>
        </p:nvSpPr>
        <p:spPr>
          <a:xfrm>
            <a:off x="8697762" y="5790533"/>
            <a:ext cx="9161111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Caspase-independent cell death</a:t>
            </a:r>
          </a:p>
        </p:txBody>
      </p:sp>
      <p:sp>
        <p:nvSpPr>
          <p:cNvPr id="46" name="AutoShape 42">
            <a:extLst>
              <a:ext uri="{FF2B5EF4-FFF2-40B4-BE49-F238E27FC236}">
                <a16:creationId xmlns:a16="http://schemas.microsoft.com/office/drawing/2014/main" id="{093D2322-4F37-7E30-B89F-20F58AB314D0}"/>
              </a:ext>
            </a:extLst>
          </p:cNvPr>
          <p:cNvSpPr/>
          <p:nvPr/>
        </p:nvSpPr>
        <p:spPr>
          <a:xfrm flipH="1">
            <a:off x="11103175" y="6297925"/>
            <a:ext cx="0" cy="212781"/>
          </a:xfrm>
          <a:prstGeom prst="line">
            <a:avLst/>
          </a:prstGeom>
          <a:ln w="57150" cap="flat">
            <a:solidFill>
              <a:srgbClr val="4E6E8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49" name="Slide Number Placeholder 14">
            <a:extLst>
              <a:ext uri="{FF2B5EF4-FFF2-40B4-BE49-F238E27FC236}">
                <a16:creationId xmlns:a16="http://schemas.microsoft.com/office/drawing/2014/main" id="{5A7C96C5-5628-221A-0329-B4EE3D7C5040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13</a:t>
            </a:fld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542272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495558" y="353737"/>
            <a:ext cx="15868174" cy="94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CELL LINE PREP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4843830"/>
            <a:ext cx="18288000" cy="5443170"/>
            <a:chOff x="0" y="0"/>
            <a:chExt cx="4620944" cy="13753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20944" cy="1375360"/>
            </a:xfrm>
            <a:custGeom>
              <a:avLst/>
              <a:gdLst/>
              <a:ahLst/>
              <a:cxnLst/>
              <a:rect l="l" t="t" r="r" b="b"/>
              <a:pathLst>
                <a:path w="4620944" h="1375360">
                  <a:moveTo>
                    <a:pt x="0" y="0"/>
                  </a:moveTo>
                  <a:lnTo>
                    <a:pt x="4620944" y="0"/>
                  </a:lnTo>
                  <a:lnTo>
                    <a:pt x="4620944" y="1375360"/>
                  </a:lnTo>
                  <a:lnTo>
                    <a:pt x="0" y="1375360"/>
                  </a:lnTo>
                  <a:close/>
                </a:path>
              </a:pathLst>
            </a:custGeom>
            <a:solidFill>
              <a:srgbClr val="4E6E81">
                <a:alpha val="49804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620944" cy="142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87088" y="5634405"/>
            <a:ext cx="5465564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Vincristine administration: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01499" y="6411156"/>
            <a:ext cx="10656293" cy="2165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4109" lvl="1" indent="-397055" algn="l">
              <a:lnSpc>
                <a:spcPts val="5811"/>
              </a:lnSpc>
              <a:buFont typeface="Arial"/>
              <a:buChar char="•"/>
            </a:pPr>
            <a:r>
              <a:rPr lang="en-US" sz="367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Continuous exposure</a:t>
            </a:r>
          </a:p>
          <a:p>
            <a:pPr marL="794109" lvl="1" indent="-397055" algn="l">
              <a:lnSpc>
                <a:spcPts val="5811"/>
              </a:lnSpc>
              <a:buFont typeface="Arial"/>
              <a:buChar char="•"/>
            </a:pPr>
            <a:r>
              <a:rPr lang="en-US" sz="367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Based off of Tu et al.</a:t>
            </a:r>
          </a:p>
          <a:p>
            <a:pPr marL="794109" lvl="1" indent="-397055" algn="l">
              <a:lnSpc>
                <a:spcPts val="5811"/>
              </a:lnSpc>
              <a:buFont typeface="Arial"/>
              <a:buChar char="•"/>
            </a:pPr>
            <a:r>
              <a:rPr lang="en-US" sz="3678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 glass coverslips (AFM) or culture dishes (MRS)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3337470" y="1726017"/>
          <a:ext cx="3865459" cy="807466"/>
        </p:xfrm>
        <a:graphic>
          <a:graphicData uri="http://schemas.openxmlformats.org/drawingml/2006/table">
            <a:tbl>
              <a:tblPr/>
              <a:tblGrid>
                <a:gridCol w="3865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4435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DFT1 cell line C5065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9973603" y="1726017"/>
          <a:ext cx="5379852" cy="807466"/>
        </p:xfrm>
        <a:graphic>
          <a:graphicData uri="http://schemas.openxmlformats.org/drawingml/2006/table">
            <a:tbl>
              <a:tblPr/>
              <a:tblGrid>
                <a:gridCol w="5379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44435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Neuroblastoma cell line SH-SY5Y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AutoShape 13"/>
          <p:cNvSpPr/>
          <p:nvPr/>
        </p:nvSpPr>
        <p:spPr>
          <a:xfrm>
            <a:off x="5270200" y="2858807"/>
            <a:ext cx="0" cy="56104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Box 14"/>
          <p:cNvSpPr txBox="1"/>
          <p:nvPr/>
        </p:nvSpPr>
        <p:spPr>
          <a:xfrm>
            <a:off x="4047477" y="3742740"/>
            <a:ext cx="244544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Pinfold et al. 2014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83682" y="3742740"/>
            <a:ext cx="215969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Kaya et al. 2024</a:t>
            </a:r>
          </a:p>
        </p:txBody>
      </p:sp>
      <p:sp>
        <p:nvSpPr>
          <p:cNvPr id="16" name="AutoShape 16"/>
          <p:cNvSpPr/>
          <p:nvPr/>
        </p:nvSpPr>
        <p:spPr>
          <a:xfrm flipH="1">
            <a:off x="12663528" y="2858806"/>
            <a:ext cx="0" cy="56104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sp>
        <p:nvSpPr>
          <p:cNvPr id="19" name="Slide Number Placeholder 14">
            <a:extLst>
              <a:ext uri="{FF2B5EF4-FFF2-40B4-BE49-F238E27FC236}">
                <a16:creationId xmlns:a16="http://schemas.microsoft.com/office/drawing/2014/main" id="{C7F6698E-3C76-E5FF-B6FB-92126E072A6E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14</a:t>
            </a:fld>
            <a:endParaRPr lang="en-US" sz="3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780210" y="2138125"/>
            <a:ext cx="9559842" cy="6010751"/>
          </a:xfrm>
          <a:custGeom>
            <a:avLst/>
            <a:gdLst/>
            <a:ahLst/>
            <a:cxnLst/>
            <a:rect l="l" t="t" r="r" b="b"/>
            <a:pathLst>
              <a:path w="9559842" h="6010751">
                <a:moveTo>
                  <a:pt x="0" y="0"/>
                </a:moveTo>
                <a:lnTo>
                  <a:pt x="9559843" y="0"/>
                </a:lnTo>
                <a:lnTo>
                  <a:pt x="9559843" y="6010750"/>
                </a:lnTo>
                <a:lnTo>
                  <a:pt x="0" y="6010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304799" y="9542884"/>
            <a:ext cx="3003711" cy="397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(Aguayo 2016)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5558" y="353737"/>
            <a:ext cx="15868174" cy="94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NANOINDENTATION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43693" y="2902260"/>
            <a:ext cx="6984388" cy="56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99"/>
              </a:lnSpc>
            </a:pPr>
            <a:r>
              <a:rPr lang="en-US" sz="29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30 cells per experimental condition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5242" y="6108389"/>
            <a:ext cx="6581291" cy="1162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99"/>
              </a:lnSpc>
            </a:pPr>
            <a:r>
              <a:rPr lang="en-US" sz="29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90 force-distance curves per experimental condition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43693" y="4464361"/>
            <a:ext cx="6984388" cy="561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799"/>
              </a:lnSpc>
            </a:pPr>
            <a:r>
              <a:rPr lang="en-US" sz="29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Measured in triplicate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4335887" y="3655023"/>
            <a:ext cx="0" cy="699118"/>
          </a:xfrm>
          <a:prstGeom prst="line">
            <a:avLst/>
          </a:prstGeom>
          <a:ln w="47625" cap="flat">
            <a:solidFill>
              <a:srgbClr val="4E6E8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sp>
        <p:nvSpPr>
          <p:cNvPr id="12" name="AutoShape 12"/>
          <p:cNvSpPr/>
          <p:nvPr/>
        </p:nvSpPr>
        <p:spPr>
          <a:xfrm>
            <a:off x="14335887" y="5254937"/>
            <a:ext cx="0" cy="699118"/>
          </a:xfrm>
          <a:prstGeom prst="line">
            <a:avLst/>
          </a:prstGeom>
          <a:ln w="47625" cap="flat">
            <a:solidFill>
              <a:srgbClr val="4E6E8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grpSp>
        <p:nvGrpSpPr>
          <p:cNvPr id="13" name="Group 13"/>
          <p:cNvGrpSpPr/>
          <p:nvPr/>
        </p:nvGrpSpPr>
        <p:grpSpPr>
          <a:xfrm>
            <a:off x="3789110" y="1461871"/>
            <a:ext cx="1180570" cy="1352508"/>
            <a:chOff x="0" y="0"/>
            <a:chExt cx="310932" cy="35621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0932" cy="356216"/>
            </a:xfrm>
            <a:custGeom>
              <a:avLst/>
              <a:gdLst/>
              <a:ahLst/>
              <a:cxnLst/>
              <a:rect l="l" t="t" r="r" b="b"/>
              <a:pathLst>
                <a:path w="310932" h="356216">
                  <a:moveTo>
                    <a:pt x="0" y="0"/>
                  </a:moveTo>
                  <a:lnTo>
                    <a:pt x="310932" y="0"/>
                  </a:lnTo>
                  <a:lnTo>
                    <a:pt x="310932" y="356216"/>
                  </a:lnTo>
                  <a:lnTo>
                    <a:pt x="0" y="3562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310932" cy="403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126432" y="3361542"/>
            <a:ext cx="656911" cy="1146349"/>
            <a:chOff x="0" y="0"/>
            <a:chExt cx="173014" cy="3019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3014" cy="301919"/>
            </a:xfrm>
            <a:custGeom>
              <a:avLst/>
              <a:gdLst/>
              <a:ahLst/>
              <a:cxnLst/>
              <a:rect l="l" t="t" r="r" b="b"/>
              <a:pathLst>
                <a:path w="173014" h="301919">
                  <a:moveTo>
                    <a:pt x="0" y="0"/>
                  </a:moveTo>
                  <a:lnTo>
                    <a:pt x="173014" y="0"/>
                  </a:lnTo>
                  <a:lnTo>
                    <a:pt x="173014" y="301919"/>
                  </a:lnTo>
                  <a:lnTo>
                    <a:pt x="0" y="3019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73014" cy="349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551951" y="6327140"/>
            <a:ext cx="2672396" cy="639811"/>
            <a:chOff x="0" y="0"/>
            <a:chExt cx="703841" cy="16851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03841" cy="168510"/>
            </a:xfrm>
            <a:custGeom>
              <a:avLst/>
              <a:gdLst/>
              <a:ahLst/>
              <a:cxnLst/>
              <a:rect l="l" t="t" r="r" b="b"/>
              <a:pathLst>
                <a:path w="703841" h="168510">
                  <a:moveTo>
                    <a:pt x="0" y="0"/>
                  </a:moveTo>
                  <a:lnTo>
                    <a:pt x="703841" y="0"/>
                  </a:lnTo>
                  <a:lnTo>
                    <a:pt x="703841" y="168510"/>
                  </a:lnTo>
                  <a:lnTo>
                    <a:pt x="0" y="1685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703841" cy="216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651600" y="5180791"/>
            <a:ext cx="656911" cy="1146349"/>
            <a:chOff x="0" y="0"/>
            <a:chExt cx="173014" cy="3019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73014" cy="301919"/>
            </a:xfrm>
            <a:custGeom>
              <a:avLst/>
              <a:gdLst/>
              <a:ahLst/>
              <a:cxnLst/>
              <a:rect l="l" t="t" r="r" b="b"/>
              <a:pathLst>
                <a:path w="173014" h="301919">
                  <a:moveTo>
                    <a:pt x="0" y="0"/>
                  </a:moveTo>
                  <a:lnTo>
                    <a:pt x="173014" y="0"/>
                  </a:lnTo>
                  <a:lnTo>
                    <a:pt x="173014" y="301919"/>
                  </a:lnTo>
                  <a:lnTo>
                    <a:pt x="0" y="3019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73014" cy="349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7" name="Slide Number Placeholder 14">
            <a:extLst>
              <a:ext uri="{FF2B5EF4-FFF2-40B4-BE49-F238E27FC236}">
                <a16:creationId xmlns:a16="http://schemas.microsoft.com/office/drawing/2014/main" id="{934BF86A-5AD0-0417-0A67-84C11D918F63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15</a:t>
            </a:fld>
            <a:endParaRPr lang="en-US"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057400"/>
            <a:ext cx="6172200" cy="6172200"/>
          </a:xfrm>
          <a:custGeom>
            <a:avLst/>
            <a:gdLst/>
            <a:ahLst/>
            <a:cxnLst/>
            <a:rect l="l" t="t" r="r" b="b"/>
            <a:pathLst>
              <a:path w="6172200" h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7200900" y="2949899"/>
            <a:ext cx="9338472" cy="4387202"/>
          </a:xfrm>
          <a:custGeom>
            <a:avLst/>
            <a:gdLst/>
            <a:ahLst/>
            <a:cxnLst/>
            <a:rect l="l" t="t" r="r" b="b"/>
            <a:pathLst>
              <a:path w="9338472" h="4387202">
                <a:moveTo>
                  <a:pt x="0" y="0"/>
                </a:moveTo>
                <a:lnTo>
                  <a:pt x="9338472" y="0"/>
                </a:lnTo>
                <a:lnTo>
                  <a:pt x="9338472" y="4387202"/>
                </a:lnTo>
                <a:lnTo>
                  <a:pt x="0" y="4387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TextBox 4"/>
          <p:cNvSpPr txBox="1"/>
          <p:nvPr/>
        </p:nvSpPr>
        <p:spPr>
          <a:xfrm>
            <a:off x="1028700" y="489903"/>
            <a:ext cx="15868174" cy="18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MRS IMAGING OVERVIEW</a:t>
            </a:r>
          </a:p>
          <a:p>
            <a:pPr marL="0" lvl="0" indent="0" algn="l">
              <a:lnSpc>
                <a:spcPts val="7280"/>
              </a:lnSpc>
            </a:pPr>
            <a:endParaRPr lang="en-US" sz="5200" b="1" spc="26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13972" y="9485266"/>
            <a:ext cx="5477228" cy="392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(Blaszczak-</a:t>
            </a:r>
            <a:r>
              <a:rPr lang="en-US" sz="239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Boxe</a:t>
            </a:r>
            <a:r>
              <a:rPr lang="en-US" sz="23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2015, Reisch 2015)</a:t>
            </a:r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3E045963-2417-A720-CCBE-9FA3F5125845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16</a:t>
            </a:fld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20130" y="2554052"/>
            <a:ext cx="7847739" cy="5993711"/>
          </a:xfrm>
          <a:custGeom>
            <a:avLst/>
            <a:gdLst/>
            <a:ahLst/>
            <a:cxnLst/>
            <a:rect l="l" t="t" r="r" b="b"/>
            <a:pathLst>
              <a:path w="7847739" h="5993711">
                <a:moveTo>
                  <a:pt x="0" y="0"/>
                </a:moveTo>
                <a:lnTo>
                  <a:pt x="7847740" y="0"/>
                </a:lnTo>
                <a:lnTo>
                  <a:pt x="7847740" y="5993711"/>
                </a:lnTo>
                <a:lnTo>
                  <a:pt x="0" y="59937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028700" y="489903"/>
            <a:ext cx="15868174" cy="18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MRS IMAGING OVERVIEW</a:t>
            </a:r>
          </a:p>
          <a:p>
            <a:pPr marL="0" lvl="0" indent="0" algn="l">
              <a:lnSpc>
                <a:spcPts val="7280"/>
              </a:lnSpc>
            </a:pPr>
            <a:endParaRPr lang="en-US" sz="5200" b="1" spc="26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70413" y="9555652"/>
            <a:ext cx="2525187" cy="397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(Jethro 2025)</a:t>
            </a:r>
          </a:p>
        </p:txBody>
      </p:sp>
      <p:sp>
        <p:nvSpPr>
          <p:cNvPr id="7" name="Slide Number Placeholder 14">
            <a:extLst>
              <a:ext uri="{FF2B5EF4-FFF2-40B4-BE49-F238E27FC236}">
                <a16:creationId xmlns:a16="http://schemas.microsoft.com/office/drawing/2014/main" id="{9B028E42-BBC4-375B-29E7-186CC0074214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17</a:t>
            </a:fld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83444" y="2736927"/>
            <a:ext cx="3521112" cy="5209067"/>
          </a:xfrm>
          <a:custGeom>
            <a:avLst/>
            <a:gdLst/>
            <a:ahLst/>
            <a:cxnLst/>
            <a:rect l="l" t="t" r="r" b="b"/>
            <a:pathLst>
              <a:path w="3521112" h="5209067">
                <a:moveTo>
                  <a:pt x="0" y="0"/>
                </a:moveTo>
                <a:lnTo>
                  <a:pt x="3521112" y="0"/>
                </a:lnTo>
                <a:lnTo>
                  <a:pt x="3521112" y="5209068"/>
                </a:lnTo>
                <a:lnTo>
                  <a:pt x="0" y="5209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8072552" y="4986397"/>
            <a:ext cx="2142897" cy="1917711"/>
          </a:xfrm>
          <a:custGeom>
            <a:avLst/>
            <a:gdLst/>
            <a:ahLst/>
            <a:cxnLst/>
            <a:rect l="l" t="t" r="r" b="b"/>
            <a:pathLst>
              <a:path w="2142897" h="1917711">
                <a:moveTo>
                  <a:pt x="0" y="0"/>
                </a:moveTo>
                <a:lnTo>
                  <a:pt x="2142896" y="0"/>
                </a:lnTo>
                <a:lnTo>
                  <a:pt x="2142896" y="1917711"/>
                </a:lnTo>
                <a:lnTo>
                  <a:pt x="0" y="1917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TextBox 4"/>
          <p:cNvSpPr txBox="1"/>
          <p:nvPr/>
        </p:nvSpPr>
        <p:spPr>
          <a:xfrm>
            <a:off x="1028700" y="489903"/>
            <a:ext cx="15868174" cy="18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MRS IMAGING OVERVIEW</a:t>
            </a:r>
          </a:p>
          <a:p>
            <a:pPr marL="0" lvl="0" indent="0" algn="l">
              <a:lnSpc>
                <a:spcPts val="7280"/>
              </a:lnSpc>
            </a:pPr>
            <a:endParaRPr lang="en-US" sz="5200" b="1" spc="26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072552" y="3121344"/>
            <a:ext cx="757380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spc="23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Magnetic Dipole Moment </a:t>
            </a:r>
          </a:p>
        </p:txBody>
      </p:sp>
      <p:sp>
        <p:nvSpPr>
          <p:cNvPr id="6" name="AutoShape 6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56D1C5FB-30D6-563D-A904-9E489E46A40D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18</a:t>
            </a:fld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89903"/>
            <a:ext cx="15868174" cy="18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MRS IMAGING OVERVIEW</a:t>
            </a:r>
          </a:p>
          <a:p>
            <a:pPr marL="0" lvl="0" indent="0" algn="l">
              <a:lnSpc>
                <a:spcPts val="7280"/>
              </a:lnSpc>
            </a:pPr>
            <a:endParaRPr lang="en-US" sz="5200" b="1" spc="26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2057400"/>
            <a:ext cx="6172200" cy="6172200"/>
          </a:xfrm>
          <a:custGeom>
            <a:avLst/>
            <a:gdLst/>
            <a:ahLst/>
            <a:cxnLst/>
            <a:rect l="l" t="t" r="r" b="b"/>
            <a:pathLst>
              <a:path w="6172200" h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9685499" y="3767029"/>
            <a:ext cx="7573801" cy="3711163"/>
          </a:xfrm>
          <a:custGeom>
            <a:avLst/>
            <a:gdLst/>
            <a:ahLst/>
            <a:cxnLst/>
            <a:rect l="l" t="t" r="r" b="b"/>
            <a:pathLst>
              <a:path w="7573801" h="3711163">
                <a:moveTo>
                  <a:pt x="0" y="0"/>
                </a:moveTo>
                <a:lnTo>
                  <a:pt x="7573801" y="0"/>
                </a:lnTo>
                <a:lnTo>
                  <a:pt x="7573801" y="3711162"/>
                </a:lnTo>
                <a:lnTo>
                  <a:pt x="0" y="3711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5" name="Group 5"/>
          <p:cNvGrpSpPr/>
          <p:nvPr/>
        </p:nvGrpSpPr>
        <p:grpSpPr>
          <a:xfrm>
            <a:off x="10216951" y="4516358"/>
            <a:ext cx="1910353" cy="2212505"/>
            <a:chOff x="0" y="0"/>
            <a:chExt cx="2547138" cy="2950006"/>
          </a:xfrm>
        </p:grpSpPr>
        <p:sp>
          <p:nvSpPr>
            <p:cNvPr id="6" name="Freeform 6"/>
            <p:cNvSpPr/>
            <p:nvPr/>
          </p:nvSpPr>
          <p:spPr>
            <a:xfrm rot="-1454469">
              <a:off x="435268" y="234837"/>
              <a:ext cx="1676601" cy="2480333"/>
            </a:xfrm>
            <a:custGeom>
              <a:avLst/>
              <a:gdLst/>
              <a:ahLst/>
              <a:cxnLst/>
              <a:rect l="l" t="t" r="r" b="b"/>
              <a:pathLst>
                <a:path w="1676601" h="2480333">
                  <a:moveTo>
                    <a:pt x="0" y="0"/>
                  </a:moveTo>
                  <a:lnTo>
                    <a:pt x="1676602" y="0"/>
                  </a:lnTo>
                  <a:lnTo>
                    <a:pt x="1676602" y="2480332"/>
                  </a:lnTo>
                  <a:lnTo>
                    <a:pt x="0" y="2480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Freeform 7"/>
            <p:cNvSpPr/>
            <p:nvPr/>
          </p:nvSpPr>
          <p:spPr>
            <a:xfrm rot="-1454469">
              <a:off x="881433" y="1280587"/>
              <a:ext cx="1020355" cy="913131"/>
            </a:xfrm>
            <a:custGeom>
              <a:avLst/>
              <a:gdLst/>
              <a:ahLst/>
              <a:cxnLst/>
              <a:rect l="l" t="t" r="r" b="b"/>
              <a:pathLst>
                <a:path w="1020355" h="913131">
                  <a:moveTo>
                    <a:pt x="0" y="0"/>
                  </a:moveTo>
                  <a:lnTo>
                    <a:pt x="1020354" y="0"/>
                  </a:lnTo>
                  <a:lnTo>
                    <a:pt x="1020354" y="913131"/>
                  </a:lnTo>
                  <a:lnTo>
                    <a:pt x="0" y="913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8" name="Group 8"/>
          <p:cNvGrpSpPr/>
          <p:nvPr/>
        </p:nvGrpSpPr>
        <p:grpSpPr>
          <a:xfrm rot="-8630092">
            <a:off x="12005082" y="4165847"/>
            <a:ext cx="1910353" cy="2212505"/>
            <a:chOff x="0" y="0"/>
            <a:chExt cx="2547138" cy="2950006"/>
          </a:xfrm>
        </p:grpSpPr>
        <p:sp>
          <p:nvSpPr>
            <p:cNvPr id="9" name="Freeform 9"/>
            <p:cNvSpPr/>
            <p:nvPr/>
          </p:nvSpPr>
          <p:spPr>
            <a:xfrm rot="-1454469">
              <a:off x="435268" y="234837"/>
              <a:ext cx="1676601" cy="2480333"/>
            </a:xfrm>
            <a:custGeom>
              <a:avLst/>
              <a:gdLst/>
              <a:ahLst/>
              <a:cxnLst/>
              <a:rect l="l" t="t" r="r" b="b"/>
              <a:pathLst>
                <a:path w="1676601" h="2480333">
                  <a:moveTo>
                    <a:pt x="0" y="0"/>
                  </a:moveTo>
                  <a:lnTo>
                    <a:pt x="1676602" y="0"/>
                  </a:lnTo>
                  <a:lnTo>
                    <a:pt x="1676602" y="2480332"/>
                  </a:lnTo>
                  <a:lnTo>
                    <a:pt x="0" y="2480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Freeform 10"/>
            <p:cNvSpPr/>
            <p:nvPr/>
          </p:nvSpPr>
          <p:spPr>
            <a:xfrm rot="-1454469">
              <a:off x="881433" y="1280587"/>
              <a:ext cx="1020355" cy="913131"/>
            </a:xfrm>
            <a:custGeom>
              <a:avLst/>
              <a:gdLst/>
              <a:ahLst/>
              <a:cxnLst/>
              <a:rect l="l" t="t" r="r" b="b"/>
              <a:pathLst>
                <a:path w="1020355" h="913131">
                  <a:moveTo>
                    <a:pt x="0" y="0"/>
                  </a:moveTo>
                  <a:lnTo>
                    <a:pt x="1020354" y="0"/>
                  </a:lnTo>
                  <a:lnTo>
                    <a:pt x="1020354" y="913131"/>
                  </a:lnTo>
                  <a:lnTo>
                    <a:pt x="0" y="913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11" name="Group 11"/>
          <p:cNvGrpSpPr/>
          <p:nvPr/>
        </p:nvGrpSpPr>
        <p:grpSpPr>
          <a:xfrm rot="4907233">
            <a:off x="13990818" y="4846498"/>
            <a:ext cx="1910353" cy="2212505"/>
            <a:chOff x="0" y="0"/>
            <a:chExt cx="2547138" cy="2950006"/>
          </a:xfrm>
        </p:grpSpPr>
        <p:sp>
          <p:nvSpPr>
            <p:cNvPr id="12" name="Freeform 12"/>
            <p:cNvSpPr/>
            <p:nvPr/>
          </p:nvSpPr>
          <p:spPr>
            <a:xfrm rot="-1454469">
              <a:off x="435268" y="234837"/>
              <a:ext cx="1676601" cy="2480333"/>
            </a:xfrm>
            <a:custGeom>
              <a:avLst/>
              <a:gdLst/>
              <a:ahLst/>
              <a:cxnLst/>
              <a:rect l="l" t="t" r="r" b="b"/>
              <a:pathLst>
                <a:path w="1676601" h="2480333">
                  <a:moveTo>
                    <a:pt x="0" y="0"/>
                  </a:moveTo>
                  <a:lnTo>
                    <a:pt x="1676602" y="0"/>
                  </a:lnTo>
                  <a:lnTo>
                    <a:pt x="1676602" y="2480332"/>
                  </a:lnTo>
                  <a:lnTo>
                    <a:pt x="0" y="2480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Freeform 13"/>
            <p:cNvSpPr/>
            <p:nvPr/>
          </p:nvSpPr>
          <p:spPr>
            <a:xfrm rot="-1454469">
              <a:off x="881433" y="1280587"/>
              <a:ext cx="1020355" cy="913131"/>
            </a:xfrm>
            <a:custGeom>
              <a:avLst/>
              <a:gdLst/>
              <a:ahLst/>
              <a:cxnLst/>
              <a:rect l="l" t="t" r="r" b="b"/>
              <a:pathLst>
                <a:path w="1020355" h="913131">
                  <a:moveTo>
                    <a:pt x="0" y="0"/>
                  </a:moveTo>
                  <a:lnTo>
                    <a:pt x="1020354" y="0"/>
                  </a:lnTo>
                  <a:lnTo>
                    <a:pt x="1020354" y="913131"/>
                  </a:lnTo>
                  <a:lnTo>
                    <a:pt x="0" y="913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685499" y="8155940"/>
            <a:ext cx="7573801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Sample</a:t>
            </a:r>
          </a:p>
        </p:txBody>
      </p:sp>
      <p:sp>
        <p:nvSpPr>
          <p:cNvPr id="15" name="AutoShape 15"/>
          <p:cNvSpPr/>
          <p:nvPr/>
        </p:nvSpPr>
        <p:spPr>
          <a:xfrm flipH="1">
            <a:off x="6753437" y="5603560"/>
            <a:ext cx="2010856" cy="0"/>
          </a:xfrm>
          <a:prstGeom prst="line">
            <a:avLst/>
          </a:prstGeom>
          <a:ln w="1333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Box 16"/>
          <p:cNvSpPr txBox="1"/>
          <p:nvPr/>
        </p:nvSpPr>
        <p:spPr>
          <a:xfrm>
            <a:off x="327899" y="8181975"/>
            <a:ext cx="757380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NMR/MRS Machine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7898" y="9590912"/>
            <a:ext cx="3253501" cy="392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(Blaszczak-</a:t>
            </a:r>
            <a:r>
              <a:rPr lang="en-US" sz="2399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Boxe</a:t>
            </a:r>
            <a:r>
              <a:rPr lang="en-US" sz="23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2015)</a:t>
            </a:r>
          </a:p>
        </p:txBody>
      </p:sp>
      <p:sp>
        <p:nvSpPr>
          <p:cNvPr id="20" name="Slide Number Placeholder 14">
            <a:extLst>
              <a:ext uri="{FF2B5EF4-FFF2-40B4-BE49-F238E27FC236}">
                <a16:creationId xmlns:a16="http://schemas.microsoft.com/office/drawing/2014/main" id="{079051A1-8F1E-EFB3-A9EB-7A5B8A254238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19</a:t>
            </a:fld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6041" y="2057400"/>
            <a:ext cx="6172200" cy="6172200"/>
          </a:xfrm>
          <a:custGeom>
            <a:avLst/>
            <a:gdLst/>
            <a:ahLst/>
            <a:cxnLst/>
            <a:rect l="l" t="t" r="r" b="b"/>
            <a:pathLst>
              <a:path w="6172200" h="6172200">
                <a:moveTo>
                  <a:pt x="0" y="0"/>
                </a:moveTo>
                <a:lnTo>
                  <a:pt x="6172200" y="0"/>
                </a:lnTo>
                <a:lnTo>
                  <a:pt x="6172200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AutoShape 3"/>
          <p:cNvSpPr/>
          <p:nvPr/>
        </p:nvSpPr>
        <p:spPr>
          <a:xfrm flipH="1">
            <a:off x="3542141" y="5143500"/>
            <a:ext cx="5045983" cy="1905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grpSp>
        <p:nvGrpSpPr>
          <p:cNvPr id="4" name="Group 4"/>
          <p:cNvGrpSpPr/>
          <p:nvPr/>
        </p:nvGrpSpPr>
        <p:grpSpPr>
          <a:xfrm>
            <a:off x="8141959" y="1424622"/>
            <a:ext cx="7832402" cy="783240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143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3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9946515" y="2952387"/>
            <a:ext cx="4333085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sp>
        <p:nvSpPr>
          <p:cNvPr id="8" name="AutoShape 8"/>
          <p:cNvSpPr/>
          <p:nvPr/>
        </p:nvSpPr>
        <p:spPr>
          <a:xfrm>
            <a:off x="9946515" y="3400158"/>
            <a:ext cx="4333085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sp>
        <p:nvSpPr>
          <p:cNvPr id="9" name="AutoShape 9"/>
          <p:cNvSpPr/>
          <p:nvPr/>
        </p:nvSpPr>
        <p:spPr>
          <a:xfrm>
            <a:off x="9946515" y="3847833"/>
            <a:ext cx="4333085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sp>
        <p:nvSpPr>
          <p:cNvPr id="10" name="Freeform 10"/>
          <p:cNvSpPr/>
          <p:nvPr/>
        </p:nvSpPr>
        <p:spPr>
          <a:xfrm rot="5400000">
            <a:off x="9624188" y="4494732"/>
            <a:ext cx="1462741" cy="2163952"/>
          </a:xfrm>
          <a:custGeom>
            <a:avLst/>
            <a:gdLst/>
            <a:ahLst/>
            <a:cxnLst/>
            <a:rect l="l" t="t" r="r" b="b"/>
            <a:pathLst>
              <a:path w="1462741" h="2163952">
                <a:moveTo>
                  <a:pt x="0" y="0"/>
                </a:moveTo>
                <a:lnTo>
                  <a:pt x="1462741" y="0"/>
                </a:lnTo>
                <a:lnTo>
                  <a:pt x="1462741" y="2163952"/>
                </a:lnTo>
                <a:lnTo>
                  <a:pt x="0" y="2163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>
          <a:xfrm rot="5400000">
            <a:off x="9659630" y="5178380"/>
            <a:ext cx="890203" cy="796656"/>
          </a:xfrm>
          <a:custGeom>
            <a:avLst/>
            <a:gdLst/>
            <a:ahLst/>
            <a:cxnLst/>
            <a:rect l="l" t="t" r="r" b="b"/>
            <a:pathLst>
              <a:path w="890203" h="796656">
                <a:moveTo>
                  <a:pt x="0" y="0"/>
                </a:moveTo>
                <a:lnTo>
                  <a:pt x="890202" y="0"/>
                </a:lnTo>
                <a:lnTo>
                  <a:pt x="890202" y="796656"/>
                </a:lnTo>
                <a:lnTo>
                  <a:pt x="0" y="796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2" name="Freeform 12"/>
          <p:cNvSpPr/>
          <p:nvPr/>
        </p:nvSpPr>
        <p:spPr>
          <a:xfrm rot="5400000">
            <a:off x="13187750" y="4494732"/>
            <a:ext cx="1462741" cy="2163952"/>
          </a:xfrm>
          <a:custGeom>
            <a:avLst/>
            <a:gdLst/>
            <a:ahLst/>
            <a:cxnLst/>
            <a:rect l="l" t="t" r="r" b="b"/>
            <a:pathLst>
              <a:path w="1462741" h="2163952">
                <a:moveTo>
                  <a:pt x="0" y="0"/>
                </a:moveTo>
                <a:lnTo>
                  <a:pt x="1462742" y="0"/>
                </a:lnTo>
                <a:lnTo>
                  <a:pt x="1462742" y="2163952"/>
                </a:lnTo>
                <a:lnTo>
                  <a:pt x="0" y="2163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3" name="Freeform 13"/>
          <p:cNvSpPr/>
          <p:nvPr/>
        </p:nvSpPr>
        <p:spPr>
          <a:xfrm rot="5400000">
            <a:off x="13148260" y="5178380"/>
            <a:ext cx="890203" cy="796656"/>
          </a:xfrm>
          <a:custGeom>
            <a:avLst/>
            <a:gdLst/>
            <a:ahLst/>
            <a:cxnLst/>
            <a:rect l="l" t="t" r="r" b="b"/>
            <a:pathLst>
              <a:path w="890203" h="796656">
                <a:moveTo>
                  <a:pt x="0" y="0"/>
                </a:moveTo>
                <a:lnTo>
                  <a:pt x="890203" y="0"/>
                </a:lnTo>
                <a:lnTo>
                  <a:pt x="890203" y="796656"/>
                </a:lnTo>
                <a:lnTo>
                  <a:pt x="0" y="796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4" name="Freeform 14"/>
          <p:cNvSpPr/>
          <p:nvPr/>
        </p:nvSpPr>
        <p:spPr>
          <a:xfrm rot="5400000">
            <a:off x="11381687" y="6328948"/>
            <a:ext cx="1462741" cy="2163952"/>
          </a:xfrm>
          <a:custGeom>
            <a:avLst/>
            <a:gdLst/>
            <a:ahLst/>
            <a:cxnLst/>
            <a:rect l="l" t="t" r="r" b="b"/>
            <a:pathLst>
              <a:path w="1462741" h="2163952">
                <a:moveTo>
                  <a:pt x="0" y="0"/>
                </a:moveTo>
                <a:lnTo>
                  <a:pt x="1462741" y="0"/>
                </a:lnTo>
                <a:lnTo>
                  <a:pt x="1462741" y="2163952"/>
                </a:lnTo>
                <a:lnTo>
                  <a:pt x="0" y="2163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5" name="Freeform 15"/>
          <p:cNvSpPr/>
          <p:nvPr/>
        </p:nvSpPr>
        <p:spPr>
          <a:xfrm rot="5400000">
            <a:off x="11417129" y="7012596"/>
            <a:ext cx="890203" cy="796656"/>
          </a:xfrm>
          <a:custGeom>
            <a:avLst/>
            <a:gdLst/>
            <a:ahLst/>
            <a:cxnLst/>
            <a:rect l="l" t="t" r="r" b="b"/>
            <a:pathLst>
              <a:path w="890203" h="796656">
                <a:moveTo>
                  <a:pt x="0" y="0"/>
                </a:moveTo>
                <a:lnTo>
                  <a:pt x="890202" y="0"/>
                </a:lnTo>
                <a:lnTo>
                  <a:pt x="890202" y="796656"/>
                </a:lnTo>
                <a:lnTo>
                  <a:pt x="0" y="796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6" name="Freeform 16"/>
          <p:cNvSpPr/>
          <p:nvPr/>
        </p:nvSpPr>
        <p:spPr>
          <a:xfrm>
            <a:off x="8271260" y="4431132"/>
            <a:ext cx="7573801" cy="3711163"/>
          </a:xfrm>
          <a:custGeom>
            <a:avLst/>
            <a:gdLst/>
            <a:ahLst/>
            <a:cxnLst/>
            <a:rect l="l" t="t" r="r" b="b"/>
            <a:pathLst>
              <a:path w="7573801" h="3711163">
                <a:moveTo>
                  <a:pt x="0" y="0"/>
                </a:moveTo>
                <a:lnTo>
                  <a:pt x="7573801" y="0"/>
                </a:lnTo>
                <a:lnTo>
                  <a:pt x="7573801" y="3711163"/>
                </a:lnTo>
                <a:lnTo>
                  <a:pt x="0" y="37111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7" name="TextBox 17"/>
          <p:cNvSpPr txBox="1"/>
          <p:nvPr/>
        </p:nvSpPr>
        <p:spPr>
          <a:xfrm>
            <a:off x="1028700" y="489903"/>
            <a:ext cx="15868174" cy="18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MRS IMAGING OVERVIEW</a:t>
            </a:r>
          </a:p>
          <a:p>
            <a:pPr marL="0" lvl="0" indent="0" algn="l">
              <a:lnSpc>
                <a:spcPts val="7280"/>
              </a:lnSpc>
            </a:pPr>
            <a:endParaRPr lang="en-US" sz="5200" b="1" spc="26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946515" y="3881355"/>
            <a:ext cx="4333085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Magnetic Field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71260" y="8181975"/>
            <a:ext cx="757380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spc="23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Sample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81800" y="9276074"/>
            <a:ext cx="3609489" cy="520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Net Polarization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52660" y="4567842"/>
            <a:ext cx="1466786" cy="4735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spc="28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Inside</a:t>
            </a:r>
          </a:p>
        </p:txBody>
      </p:sp>
      <p:sp>
        <p:nvSpPr>
          <p:cNvPr id="24" name="Slide Number Placeholder 14">
            <a:extLst>
              <a:ext uri="{FF2B5EF4-FFF2-40B4-BE49-F238E27FC236}">
                <a16:creationId xmlns:a16="http://schemas.microsoft.com/office/drawing/2014/main" id="{259BA566-638F-E928-C3CC-03DD5CD7F0B1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20</a:t>
            </a:fld>
            <a:endParaRPr lang="en-US" sz="3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09580" y="1881283"/>
            <a:ext cx="6268839" cy="5628136"/>
          </a:xfrm>
          <a:custGeom>
            <a:avLst/>
            <a:gdLst/>
            <a:ahLst/>
            <a:cxnLst/>
            <a:rect l="l" t="t" r="r" b="b"/>
            <a:pathLst>
              <a:path w="6268839" h="5628136">
                <a:moveTo>
                  <a:pt x="0" y="0"/>
                </a:moveTo>
                <a:lnTo>
                  <a:pt x="6268840" y="0"/>
                </a:lnTo>
                <a:lnTo>
                  <a:pt x="6268840" y="5628136"/>
                </a:lnTo>
                <a:lnTo>
                  <a:pt x="0" y="5628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6459249" y="7966619"/>
            <a:ext cx="5007075" cy="1205407"/>
          </a:xfrm>
          <a:custGeom>
            <a:avLst/>
            <a:gdLst/>
            <a:ahLst/>
            <a:cxnLst/>
            <a:rect l="l" t="t" r="r" b="b"/>
            <a:pathLst>
              <a:path w="5007075" h="1205407">
                <a:moveTo>
                  <a:pt x="0" y="0"/>
                </a:moveTo>
                <a:lnTo>
                  <a:pt x="5007076" y="0"/>
                </a:lnTo>
                <a:lnTo>
                  <a:pt x="5007076" y="1205407"/>
                </a:lnTo>
                <a:lnTo>
                  <a:pt x="0" y="12054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4" name="Group 4"/>
          <p:cNvGrpSpPr/>
          <p:nvPr/>
        </p:nvGrpSpPr>
        <p:grpSpPr>
          <a:xfrm>
            <a:off x="5406829" y="1726374"/>
            <a:ext cx="2902766" cy="947208"/>
            <a:chOff x="0" y="0"/>
            <a:chExt cx="764515" cy="2494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64515" cy="249471"/>
            </a:xfrm>
            <a:custGeom>
              <a:avLst/>
              <a:gdLst/>
              <a:ahLst/>
              <a:cxnLst/>
              <a:rect l="l" t="t" r="r" b="b"/>
              <a:pathLst>
                <a:path w="764515" h="249471">
                  <a:moveTo>
                    <a:pt x="0" y="0"/>
                  </a:moveTo>
                  <a:lnTo>
                    <a:pt x="764515" y="0"/>
                  </a:lnTo>
                  <a:lnTo>
                    <a:pt x="764515" y="249471"/>
                  </a:lnTo>
                  <a:lnTo>
                    <a:pt x="0" y="2494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764515" cy="297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489903"/>
            <a:ext cx="15868174" cy="18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MRS IMAGING OVERVIEW</a:t>
            </a:r>
          </a:p>
          <a:p>
            <a:pPr marL="0" lvl="0" indent="0" algn="l">
              <a:lnSpc>
                <a:spcPts val="7280"/>
              </a:lnSpc>
            </a:pPr>
            <a:endParaRPr lang="en-US" sz="5200" b="1" spc="26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7560436" y="2649770"/>
            <a:ext cx="533194" cy="47625"/>
            <a:chOff x="0" y="0"/>
            <a:chExt cx="140430" cy="125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0430" cy="12543"/>
            </a:xfrm>
            <a:custGeom>
              <a:avLst/>
              <a:gdLst/>
              <a:ahLst/>
              <a:cxnLst/>
              <a:rect l="l" t="t" r="r" b="b"/>
              <a:pathLst>
                <a:path w="140430" h="12543">
                  <a:moveTo>
                    <a:pt x="0" y="0"/>
                  </a:moveTo>
                  <a:lnTo>
                    <a:pt x="140430" y="0"/>
                  </a:lnTo>
                  <a:lnTo>
                    <a:pt x="14043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40430" cy="60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Box 12"/>
          <p:cNvSpPr txBox="1"/>
          <p:nvPr/>
        </p:nvSpPr>
        <p:spPr>
          <a:xfrm>
            <a:off x="-27214" y="9600825"/>
            <a:ext cx="3099639" cy="3925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(Bailey 2019)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3628B36-D456-96E8-4E59-6557AA5DDFD2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21</a:t>
            </a:fld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134453"/>
            <a:ext cx="6283609" cy="2018094"/>
          </a:xfrm>
          <a:custGeom>
            <a:avLst/>
            <a:gdLst/>
            <a:ahLst/>
            <a:cxnLst/>
            <a:rect l="l" t="t" r="r" b="b"/>
            <a:pathLst>
              <a:path w="6283609" h="2018094">
                <a:moveTo>
                  <a:pt x="0" y="0"/>
                </a:moveTo>
                <a:lnTo>
                  <a:pt x="6283609" y="0"/>
                </a:lnTo>
                <a:lnTo>
                  <a:pt x="6283609" y="2018094"/>
                </a:lnTo>
                <a:lnTo>
                  <a:pt x="0" y="2018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0181364" y="2329432"/>
            <a:ext cx="6268839" cy="5628136"/>
          </a:xfrm>
          <a:custGeom>
            <a:avLst/>
            <a:gdLst/>
            <a:ahLst/>
            <a:cxnLst/>
            <a:rect l="l" t="t" r="r" b="b"/>
            <a:pathLst>
              <a:path w="6268839" h="5628136">
                <a:moveTo>
                  <a:pt x="0" y="0"/>
                </a:moveTo>
                <a:lnTo>
                  <a:pt x="6268839" y="0"/>
                </a:lnTo>
                <a:lnTo>
                  <a:pt x="6268839" y="5628136"/>
                </a:lnTo>
                <a:lnTo>
                  <a:pt x="0" y="56281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9945240" y="1951660"/>
            <a:ext cx="2856360" cy="1399616"/>
          </a:xfrm>
          <a:custGeom>
            <a:avLst/>
            <a:gdLst/>
            <a:ahLst/>
            <a:cxnLst/>
            <a:rect l="l" t="t" r="r" b="b"/>
            <a:pathLst>
              <a:path w="2856360" h="1399616">
                <a:moveTo>
                  <a:pt x="0" y="0"/>
                </a:moveTo>
                <a:lnTo>
                  <a:pt x="2856360" y="0"/>
                </a:lnTo>
                <a:lnTo>
                  <a:pt x="2856360" y="1399616"/>
                </a:lnTo>
                <a:lnTo>
                  <a:pt x="0" y="1399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 rot="-5400000">
            <a:off x="8325344" y="3333938"/>
            <a:ext cx="2513769" cy="4114800"/>
          </a:xfrm>
          <a:custGeom>
            <a:avLst/>
            <a:gdLst/>
            <a:ahLst/>
            <a:cxnLst/>
            <a:rect l="l" t="t" r="r" b="b"/>
            <a:pathLst>
              <a:path w="2513769" h="4114800">
                <a:moveTo>
                  <a:pt x="0" y="0"/>
                </a:moveTo>
                <a:lnTo>
                  <a:pt x="2513768" y="0"/>
                </a:lnTo>
                <a:lnTo>
                  <a:pt x="25137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1028700" y="489903"/>
            <a:ext cx="15868174" cy="18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MRS IMAGING OVERVIEW</a:t>
            </a:r>
          </a:p>
          <a:p>
            <a:pPr marL="0" lvl="0" indent="0" algn="l">
              <a:lnSpc>
                <a:spcPts val="7280"/>
              </a:lnSpc>
            </a:pPr>
            <a:endParaRPr lang="en-US" sz="5200" b="1" spc="26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9" name="Slide Number Placeholder 14">
            <a:extLst>
              <a:ext uri="{FF2B5EF4-FFF2-40B4-BE49-F238E27FC236}">
                <a16:creationId xmlns:a16="http://schemas.microsoft.com/office/drawing/2014/main" id="{6A377DAD-AD6B-B716-AE41-326185FA81C3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22</a:t>
            </a:fld>
            <a:endParaRPr lang="en-US" sz="3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28367" y="2638574"/>
            <a:ext cx="6268839" cy="5628136"/>
          </a:xfrm>
          <a:custGeom>
            <a:avLst/>
            <a:gdLst/>
            <a:ahLst/>
            <a:cxnLst/>
            <a:rect l="l" t="t" r="r" b="b"/>
            <a:pathLst>
              <a:path w="6268839" h="5628136">
                <a:moveTo>
                  <a:pt x="0" y="0"/>
                </a:moveTo>
                <a:lnTo>
                  <a:pt x="6268839" y="0"/>
                </a:lnTo>
                <a:lnTo>
                  <a:pt x="6268839" y="5628136"/>
                </a:lnTo>
                <a:lnTo>
                  <a:pt x="0" y="5628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rot="6484974">
            <a:off x="1396474" y="894843"/>
            <a:ext cx="4953540" cy="4953540"/>
          </a:xfrm>
          <a:custGeom>
            <a:avLst/>
            <a:gdLst/>
            <a:ahLst/>
            <a:cxnLst/>
            <a:rect l="l" t="t" r="r" b="b"/>
            <a:pathLst>
              <a:path w="4953540" h="4953540">
                <a:moveTo>
                  <a:pt x="0" y="0"/>
                </a:moveTo>
                <a:lnTo>
                  <a:pt x="4953540" y="0"/>
                </a:lnTo>
                <a:lnTo>
                  <a:pt x="4953540" y="4953541"/>
                </a:lnTo>
                <a:lnTo>
                  <a:pt x="0" y="49535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TextBox 4"/>
          <p:cNvSpPr txBox="1"/>
          <p:nvPr/>
        </p:nvSpPr>
        <p:spPr>
          <a:xfrm>
            <a:off x="1028700" y="489903"/>
            <a:ext cx="15868174" cy="18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MRS IMAGING OVERVIEW</a:t>
            </a:r>
          </a:p>
          <a:p>
            <a:pPr marL="0" lvl="0" indent="0" algn="l">
              <a:lnSpc>
                <a:spcPts val="7280"/>
              </a:lnSpc>
            </a:pPr>
            <a:endParaRPr lang="en-US" sz="5200" b="1" spc="26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5" name="Freeform 5"/>
          <p:cNvSpPr/>
          <p:nvPr/>
        </p:nvSpPr>
        <p:spPr>
          <a:xfrm rot="6484974">
            <a:off x="1055437" y="1877114"/>
            <a:ext cx="4953540" cy="4953540"/>
          </a:xfrm>
          <a:custGeom>
            <a:avLst/>
            <a:gdLst/>
            <a:ahLst/>
            <a:cxnLst/>
            <a:rect l="l" t="t" r="r" b="b"/>
            <a:pathLst>
              <a:path w="4953540" h="4953540">
                <a:moveTo>
                  <a:pt x="0" y="0"/>
                </a:moveTo>
                <a:lnTo>
                  <a:pt x="4953540" y="0"/>
                </a:lnTo>
                <a:lnTo>
                  <a:pt x="4953540" y="4953541"/>
                </a:lnTo>
                <a:lnTo>
                  <a:pt x="0" y="49535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 rot="6484974">
            <a:off x="646440" y="2975872"/>
            <a:ext cx="4953540" cy="4953540"/>
          </a:xfrm>
          <a:custGeom>
            <a:avLst/>
            <a:gdLst/>
            <a:ahLst/>
            <a:cxnLst/>
            <a:rect l="l" t="t" r="r" b="b"/>
            <a:pathLst>
              <a:path w="4953540" h="4953540">
                <a:moveTo>
                  <a:pt x="0" y="0"/>
                </a:moveTo>
                <a:lnTo>
                  <a:pt x="4953540" y="0"/>
                </a:lnTo>
                <a:lnTo>
                  <a:pt x="4953540" y="4953540"/>
                </a:lnTo>
                <a:lnTo>
                  <a:pt x="0" y="4953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TextBox 7"/>
          <p:cNvSpPr txBox="1"/>
          <p:nvPr/>
        </p:nvSpPr>
        <p:spPr>
          <a:xfrm>
            <a:off x="0" y="6428148"/>
            <a:ext cx="6246420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spc="3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Radiowaves</a:t>
            </a:r>
          </a:p>
        </p:txBody>
      </p:sp>
      <p:sp>
        <p:nvSpPr>
          <p:cNvPr id="10" name="Slide Number Placeholder 14">
            <a:extLst>
              <a:ext uri="{FF2B5EF4-FFF2-40B4-BE49-F238E27FC236}">
                <a16:creationId xmlns:a16="http://schemas.microsoft.com/office/drawing/2014/main" id="{DADE3C96-5239-ABE3-C346-FD6D9B46C6D5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23</a:t>
            </a:fld>
            <a:endParaRPr lang="en-US" sz="3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89903"/>
            <a:ext cx="15868174" cy="18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MRS IMAGING OVERVIEW</a:t>
            </a:r>
          </a:p>
          <a:p>
            <a:pPr marL="0" lvl="0" indent="0" algn="l">
              <a:lnSpc>
                <a:spcPts val="7280"/>
              </a:lnSpc>
            </a:pPr>
            <a:endParaRPr lang="en-US" sz="5200" b="1" spc="26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2548507" y="2997925"/>
            <a:ext cx="4728873" cy="4245562"/>
          </a:xfrm>
          <a:custGeom>
            <a:avLst/>
            <a:gdLst/>
            <a:ahLst/>
            <a:cxnLst/>
            <a:rect l="l" t="t" r="r" b="b"/>
            <a:pathLst>
              <a:path w="4728873" h="4245562">
                <a:moveTo>
                  <a:pt x="0" y="0"/>
                </a:moveTo>
                <a:lnTo>
                  <a:pt x="4728873" y="0"/>
                </a:lnTo>
                <a:lnTo>
                  <a:pt x="4728873" y="4245562"/>
                </a:lnTo>
                <a:lnTo>
                  <a:pt x="0" y="4245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rot="5400000">
            <a:off x="11286563" y="3140366"/>
            <a:ext cx="4959880" cy="4452958"/>
          </a:xfrm>
          <a:custGeom>
            <a:avLst/>
            <a:gdLst/>
            <a:ahLst/>
            <a:cxnLst/>
            <a:rect l="l" t="t" r="r" b="b"/>
            <a:pathLst>
              <a:path w="4959880" h="4452958">
                <a:moveTo>
                  <a:pt x="0" y="0"/>
                </a:moveTo>
                <a:lnTo>
                  <a:pt x="4959880" y="0"/>
                </a:lnTo>
                <a:lnTo>
                  <a:pt x="4959880" y="4452958"/>
                </a:lnTo>
                <a:lnTo>
                  <a:pt x="0" y="4452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AutoShape 5"/>
          <p:cNvSpPr/>
          <p:nvPr/>
        </p:nvSpPr>
        <p:spPr>
          <a:xfrm flipV="1">
            <a:off x="7232523" y="5336414"/>
            <a:ext cx="3231786" cy="61785"/>
          </a:xfrm>
          <a:prstGeom prst="line">
            <a:avLst/>
          </a:prstGeom>
          <a:ln w="1524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 rot="6484974">
            <a:off x="698818" y="2933134"/>
            <a:ext cx="2604315" cy="2604315"/>
          </a:xfrm>
          <a:custGeom>
            <a:avLst/>
            <a:gdLst/>
            <a:ahLst/>
            <a:cxnLst/>
            <a:rect l="l" t="t" r="r" b="b"/>
            <a:pathLst>
              <a:path w="2604315" h="2604315">
                <a:moveTo>
                  <a:pt x="0" y="0"/>
                </a:moveTo>
                <a:lnTo>
                  <a:pt x="2604314" y="0"/>
                </a:lnTo>
                <a:lnTo>
                  <a:pt x="2604314" y="2604314"/>
                </a:lnTo>
                <a:lnTo>
                  <a:pt x="0" y="26043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 rot="6484974">
            <a:off x="519518" y="3449561"/>
            <a:ext cx="2604315" cy="2604315"/>
          </a:xfrm>
          <a:custGeom>
            <a:avLst/>
            <a:gdLst/>
            <a:ahLst/>
            <a:cxnLst/>
            <a:rect l="l" t="t" r="r" b="b"/>
            <a:pathLst>
              <a:path w="2604315" h="2604315">
                <a:moveTo>
                  <a:pt x="0" y="0"/>
                </a:moveTo>
                <a:lnTo>
                  <a:pt x="2604315" y="0"/>
                </a:lnTo>
                <a:lnTo>
                  <a:pt x="2604315" y="2604314"/>
                </a:lnTo>
                <a:lnTo>
                  <a:pt x="0" y="26043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Freeform 8"/>
          <p:cNvSpPr/>
          <p:nvPr/>
        </p:nvSpPr>
        <p:spPr>
          <a:xfrm rot="6484974">
            <a:off x="339865" y="3927626"/>
            <a:ext cx="2604315" cy="2604315"/>
          </a:xfrm>
          <a:custGeom>
            <a:avLst/>
            <a:gdLst/>
            <a:ahLst/>
            <a:cxnLst/>
            <a:rect l="l" t="t" r="r" b="b"/>
            <a:pathLst>
              <a:path w="2604315" h="2604315">
                <a:moveTo>
                  <a:pt x="0" y="0"/>
                </a:moveTo>
                <a:lnTo>
                  <a:pt x="2604314" y="0"/>
                </a:lnTo>
                <a:lnTo>
                  <a:pt x="2604314" y="2604315"/>
                </a:lnTo>
                <a:lnTo>
                  <a:pt x="0" y="2604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1" name="Slide Number Placeholder 14">
            <a:extLst>
              <a:ext uri="{FF2B5EF4-FFF2-40B4-BE49-F238E27FC236}">
                <a16:creationId xmlns:a16="http://schemas.microsoft.com/office/drawing/2014/main" id="{06457ECD-7E95-63EC-AF08-1423333616C2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24</a:t>
            </a:fld>
            <a:endParaRPr lang="en-US" sz="3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89903"/>
            <a:ext cx="15868174" cy="18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MRS IMAGING OVERVIEW</a:t>
            </a:r>
          </a:p>
          <a:p>
            <a:pPr marL="0" lvl="0" indent="0" algn="l">
              <a:lnSpc>
                <a:spcPts val="7280"/>
              </a:lnSpc>
            </a:pPr>
            <a:endParaRPr lang="en-US" sz="5200" b="1" spc="26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3" name="Freeform 3"/>
          <p:cNvSpPr/>
          <p:nvPr/>
        </p:nvSpPr>
        <p:spPr>
          <a:xfrm rot="5400000">
            <a:off x="-273005" y="2643057"/>
            <a:ext cx="5342326" cy="4796317"/>
          </a:xfrm>
          <a:custGeom>
            <a:avLst/>
            <a:gdLst/>
            <a:ahLst/>
            <a:cxnLst/>
            <a:rect l="l" t="t" r="r" b="b"/>
            <a:pathLst>
              <a:path w="5342326" h="4796317">
                <a:moveTo>
                  <a:pt x="0" y="0"/>
                </a:moveTo>
                <a:lnTo>
                  <a:pt x="5342327" y="0"/>
                </a:lnTo>
                <a:lnTo>
                  <a:pt x="5342327" y="4796317"/>
                </a:lnTo>
                <a:lnTo>
                  <a:pt x="0" y="4796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rot="2700000">
            <a:off x="6472837" y="2611015"/>
            <a:ext cx="5342326" cy="4796317"/>
          </a:xfrm>
          <a:custGeom>
            <a:avLst/>
            <a:gdLst/>
            <a:ahLst/>
            <a:cxnLst/>
            <a:rect l="l" t="t" r="r" b="b"/>
            <a:pathLst>
              <a:path w="5342326" h="4796317">
                <a:moveTo>
                  <a:pt x="0" y="0"/>
                </a:moveTo>
                <a:lnTo>
                  <a:pt x="5342326" y="0"/>
                </a:lnTo>
                <a:lnTo>
                  <a:pt x="5342326" y="4796318"/>
                </a:lnTo>
                <a:lnTo>
                  <a:pt x="0" y="4796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2945674" y="2643057"/>
            <a:ext cx="5342326" cy="4796317"/>
          </a:xfrm>
          <a:custGeom>
            <a:avLst/>
            <a:gdLst/>
            <a:ahLst/>
            <a:cxnLst/>
            <a:rect l="l" t="t" r="r" b="b"/>
            <a:pathLst>
              <a:path w="5342326" h="4796317">
                <a:moveTo>
                  <a:pt x="0" y="0"/>
                </a:moveTo>
                <a:lnTo>
                  <a:pt x="5342326" y="0"/>
                </a:lnTo>
                <a:lnTo>
                  <a:pt x="5342326" y="4796317"/>
                </a:lnTo>
                <a:lnTo>
                  <a:pt x="0" y="47963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AutoShape 6"/>
          <p:cNvSpPr/>
          <p:nvPr/>
        </p:nvSpPr>
        <p:spPr>
          <a:xfrm flipV="1">
            <a:off x="5230282" y="5248194"/>
            <a:ext cx="1333583" cy="52387"/>
          </a:xfrm>
          <a:prstGeom prst="line">
            <a:avLst/>
          </a:prstGeom>
          <a:ln w="2095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sp>
        <p:nvSpPr>
          <p:cNvPr id="7" name="AutoShape 7"/>
          <p:cNvSpPr/>
          <p:nvPr/>
        </p:nvSpPr>
        <p:spPr>
          <a:xfrm flipV="1">
            <a:off x="12470228" y="5113868"/>
            <a:ext cx="1333583" cy="52387"/>
          </a:xfrm>
          <a:prstGeom prst="line">
            <a:avLst/>
          </a:prstGeom>
          <a:ln w="2095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sp>
        <p:nvSpPr>
          <p:cNvPr id="10" name="Slide Number Placeholder 14">
            <a:extLst>
              <a:ext uri="{FF2B5EF4-FFF2-40B4-BE49-F238E27FC236}">
                <a16:creationId xmlns:a16="http://schemas.microsoft.com/office/drawing/2014/main" id="{DAE34534-41EC-9402-FF03-3E057660E73F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25</a:t>
            </a:fld>
            <a:endParaRPr lang="en-US" sz="3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164532">
            <a:off x="11913153" y="1534572"/>
            <a:ext cx="6266580" cy="6266580"/>
          </a:xfrm>
          <a:custGeom>
            <a:avLst/>
            <a:gdLst/>
            <a:ahLst/>
            <a:cxnLst/>
            <a:rect l="l" t="t" r="r" b="b"/>
            <a:pathLst>
              <a:path w="6266580" h="6266580">
                <a:moveTo>
                  <a:pt x="0" y="0"/>
                </a:moveTo>
                <a:lnTo>
                  <a:pt x="6266579" y="0"/>
                </a:lnTo>
                <a:lnTo>
                  <a:pt x="6266579" y="6266579"/>
                </a:lnTo>
                <a:lnTo>
                  <a:pt x="0" y="6266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rot="4164532">
            <a:off x="-44858" y="1534572"/>
            <a:ext cx="6266580" cy="6266580"/>
          </a:xfrm>
          <a:custGeom>
            <a:avLst/>
            <a:gdLst/>
            <a:ahLst/>
            <a:cxnLst/>
            <a:rect l="l" t="t" r="r" b="b"/>
            <a:pathLst>
              <a:path w="6266580" h="6266580">
                <a:moveTo>
                  <a:pt x="0" y="0"/>
                </a:moveTo>
                <a:lnTo>
                  <a:pt x="6266580" y="0"/>
                </a:lnTo>
                <a:lnTo>
                  <a:pt x="6266580" y="6266579"/>
                </a:lnTo>
                <a:lnTo>
                  <a:pt x="0" y="6266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 rot="5400000">
            <a:off x="3163001" y="6275207"/>
            <a:ext cx="3290255" cy="2953977"/>
          </a:xfrm>
          <a:custGeom>
            <a:avLst/>
            <a:gdLst/>
            <a:ahLst/>
            <a:cxnLst/>
            <a:rect l="l" t="t" r="r" b="b"/>
            <a:pathLst>
              <a:path w="3290255" h="2953977">
                <a:moveTo>
                  <a:pt x="0" y="0"/>
                </a:moveTo>
                <a:lnTo>
                  <a:pt x="3290255" y="0"/>
                </a:lnTo>
                <a:lnTo>
                  <a:pt x="3290255" y="2953977"/>
                </a:lnTo>
                <a:lnTo>
                  <a:pt x="0" y="2953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 rot="2700000">
            <a:off x="7317659" y="6255473"/>
            <a:ext cx="3290255" cy="2953977"/>
          </a:xfrm>
          <a:custGeom>
            <a:avLst/>
            <a:gdLst/>
            <a:ahLst/>
            <a:cxnLst/>
            <a:rect l="l" t="t" r="r" b="b"/>
            <a:pathLst>
              <a:path w="3290255" h="2953977">
                <a:moveTo>
                  <a:pt x="0" y="0"/>
                </a:moveTo>
                <a:lnTo>
                  <a:pt x="3290255" y="0"/>
                </a:lnTo>
                <a:lnTo>
                  <a:pt x="3290255" y="2953977"/>
                </a:lnTo>
                <a:lnTo>
                  <a:pt x="0" y="2953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11304178" y="6275207"/>
            <a:ext cx="3290255" cy="2953977"/>
          </a:xfrm>
          <a:custGeom>
            <a:avLst/>
            <a:gdLst/>
            <a:ahLst/>
            <a:cxnLst/>
            <a:rect l="l" t="t" r="r" b="b"/>
            <a:pathLst>
              <a:path w="3290255" h="2953977">
                <a:moveTo>
                  <a:pt x="0" y="0"/>
                </a:moveTo>
                <a:lnTo>
                  <a:pt x="3290255" y="0"/>
                </a:lnTo>
                <a:lnTo>
                  <a:pt x="3290255" y="2953977"/>
                </a:lnTo>
                <a:lnTo>
                  <a:pt x="0" y="2953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AutoShape 7"/>
          <p:cNvSpPr/>
          <p:nvPr/>
        </p:nvSpPr>
        <p:spPr>
          <a:xfrm flipV="1">
            <a:off x="6552389" y="7879670"/>
            <a:ext cx="821333" cy="32265"/>
          </a:xfrm>
          <a:prstGeom prst="line">
            <a:avLst/>
          </a:prstGeom>
          <a:ln w="1238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sp>
        <p:nvSpPr>
          <p:cNvPr id="8" name="AutoShape 8"/>
          <p:cNvSpPr/>
          <p:nvPr/>
        </p:nvSpPr>
        <p:spPr>
          <a:xfrm flipV="1">
            <a:off x="11011358" y="7796941"/>
            <a:ext cx="821333" cy="32265"/>
          </a:xfrm>
          <a:prstGeom prst="line">
            <a:avLst/>
          </a:prstGeom>
          <a:ln w="1238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sp>
        <p:nvSpPr>
          <p:cNvPr id="9" name="Freeform 9"/>
          <p:cNvSpPr/>
          <p:nvPr/>
        </p:nvSpPr>
        <p:spPr>
          <a:xfrm>
            <a:off x="3678282" y="2579329"/>
            <a:ext cx="10931437" cy="4846058"/>
          </a:xfrm>
          <a:custGeom>
            <a:avLst/>
            <a:gdLst/>
            <a:ahLst/>
            <a:cxnLst/>
            <a:rect l="l" t="t" r="r" b="b"/>
            <a:pathLst>
              <a:path w="10931437" h="4846058">
                <a:moveTo>
                  <a:pt x="0" y="0"/>
                </a:moveTo>
                <a:lnTo>
                  <a:pt x="10931436" y="0"/>
                </a:lnTo>
                <a:lnTo>
                  <a:pt x="10931436" y="4846058"/>
                </a:lnTo>
                <a:lnTo>
                  <a:pt x="0" y="48460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0" name="Freeform 10"/>
          <p:cNvSpPr/>
          <p:nvPr/>
        </p:nvSpPr>
        <p:spPr>
          <a:xfrm>
            <a:off x="3678282" y="1028700"/>
            <a:ext cx="10931437" cy="4846058"/>
          </a:xfrm>
          <a:custGeom>
            <a:avLst/>
            <a:gdLst/>
            <a:ahLst/>
            <a:cxnLst/>
            <a:rect l="l" t="t" r="r" b="b"/>
            <a:pathLst>
              <a:path w="10931437" h="4846058">
                <a:moveTo>
                  <a:pt x="0" y="0"/>
                </a:moveTo>
                <a:lnTo>
                  <a:pt x="10931436" y="0"/>
                </a:lnTo>
                <a:lnTo>
                  <a:pt x="10931436" y="4846058"/>
                </a:lnTo>
                <a:lnTo>
                  <a:pt x="0" y="48460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>
          <a:xfrm>
            <a:off x="2017399" y="2469791"/>
            <a:ext cx="1660883" cy="4114800"/>
          </a:xfrm>
          <a:custGeom>
            <a:avLst/>
            <a:gdLst/>
            <a:ahLst/>
            <a:cxnLst/>
            <a:rect l="l" t="t" r="r" b="b"/>
            <a:pathLst>
              <a:path w="1660883" h="4114800">
                <a:moveTo>
                  <a:pt x="0" y="0"/>
                </a:moveTo>
                <a:lnTo>
                  <a:pt x="1660883" y="0"/>
                </a:lnTo>
                <a:lnTo>
                  <a:pt x="16608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2" name="Freeform 12"/>
          <p:cNvSpPr/>
          <p:nvPr/>
        </p:nvSpPr>
        <p:spPr>
          <a:xfrm>
            <a:off x="13999866" y="2597902"/>
            <a:ext cx="1660883" cy="4114800"/>
          </a:xfrm>
          <a:custGeom>
            <a:avLst/>
            <a:gdLst/>
            <a:ahLst/>
            <a:cxnLst/>
            <a:rect l="l" t="t" r="r" b="b"/>
            <a:pathLst>
              <a:path w="1660883" h="4114800">
                <a:moveTo>
                  <a:pt x="0" y="0"/>
                </a:moveTo>
                <a:lnTo>
                  <a:pt x="1660883" y="0"/>
                </a:lnTo>
                <a:lnTo>
                  <a:pt x="16608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3" name="TextBox 13"/>
          <p:cNvSpPr txBox="1"/>
          <p:nvPr/>
        </p:nvSpPr>
        <p:spPr>
          <a:xfrm>
            <a:off x="1028700" y="489903"/>
            <a:ext cx="15868174" cy="18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MRS IMAGING OVERVIEW</a:t>
            </a:r>
          </a:p>
          <a:p>
            <a:pPr marL="0" lvl="0" indent="0" algn="l">
              <a:lnSpc>
                <a:spcPts val="7280"/>
              </a:lnSpc>
            </a:pPr>
            <a:endParaRPr lang="en-US" sz="5200" b="1" spc="26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419863" y="2154513"/>
            <a:ext cx="3448273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spc="3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Magnetic Field </a:t>
            </a:r>
          </a:p>
        </p:txBody>
      </p:sp>
      <p:sp>
        <p:nvSpPr>
          <p:cNvPr id="17" name="Slide Number Placeholder 14">
            <a:extLst>
              <a:ext uri="{FF2B5EF4-FFF2-40B4-BE49-F238E27FC236}">
                <a16:creationId xmlns:a16="http://schemas.microsoft.com/office/drawing/2014/main" id="{28384B38-9526-392B-9ACE-40218227FAD6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26</a:t>
            </a:fld>
            <a:endParaRPr lang="en-US" sz="3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164532">
            <a:off x="5162040" y="4517621"/>
            <a:ext cx="6266580" cy="6266580"/>
          </a:xfrm>
          <a:custGeom>
            <a:avLst/>
            <a:gdLst/>
            <a:ahLst/>
            <a:cxnLst/>
            <a:rect l="l" t="t" r="r" b="b"/>
            <a:pathLst>
              <a:path w="6266580" h="6266580">
                <a:moveTo>
                  <a:pt x="0" y="0"/>
                </a:moveTo>
                <a:lnTo>
                  <a:pt x="6266580" y="0"/>
                </a:lnTo>
                <a:lnTo>
                  <a:pt x="6266580" y="6266580"/>
                </a:lnTo>
                <a:lnTo>
                  <a:pt x="0" y="6266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rot="4164532">
            <a:off x="-387427" y="4517621"/>
            <a:ext cx="6266580" cy="6266580"/>
          </a:xfrm>
          <a:custGeom>
            <a:avLst/>
            <a:gdLst/>
            <a:ahLst/>
            <a:cxnLst/>
            <a:rect l="l" t="t" r="r" b="b"/>
            <a:pathLst>
              <a:path w="6266580" h="6266580">
                <a:moveTo>
                  <a:pt x="0" y="0"/>
                </a:moveTo>
                <a:lnTo>
                  <a:pt x="6266580" y="0"/>
                </a:lnTo>
                <a:lnTo>
                  <a:pt x="6266580" y="6266580"/>
                </a:lnTo>
                <a:lnTo>
                  <a:pt x="0" y="6266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028700" y="6590498"/>
            <a:ext cx="8745701" cy="3877091"/>
          </a:xfrm>
          <a:custGeom>
            <a:avLst/>
            <a:gdLst/>
            <a:ahLst/>
            <a:cxnLst/>
            <a:rect l="l" t="t" r="r" b="b"/>
            <a:pathLst>
              <a:path w="8745701" h="3877091">
                <a:moveTo>
                  <a:pt x="0" y="0"/>
                </a:moveTo>
                <a:lnTo>
                  <a:pt x="8745701" y="0"/>
                </a:lnTo>
                <a:lnTo>
                  <a:pt x="8745701" y="3877092"/>
                </a:lnTo>
                <a:lnTo>
                  <a:pt x="0" y="38770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1028700" y="5335057"/>
            <a:ext cx="8745701" cy="3877091"/>
          </a:xfrm>
          <a:custGeom>
            <a:avLst/>
            <a:gdLst/>
            <a:ahLst/>
            <a:cxnLst/>
            <a:rect l="l" t="t" r="r" b="b"/>
            <a:pathLst>
              <a:path w="8745701" h="3877091">
                <a:moveTo>
                  <a:pt x="0" y="0"/>
                </a:moveTo>
                <a:lnTo>
                  <a:pt x="8745701" y="0"/>
                </a:lnTo>
                <a:lnTo>
                  <a:pt x="8745701" y="3877091"/>
                </a:lnTo>
                <a:lnTo>
                  <a:pt x="0" y="3877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Freeform 6"/>
          <p:cNvSpPr/>
          <p:nvPr/>
        </p:nvSpPr>
        <p:spPr>
          <a:xfrm>
            <a:off x="1674830" y="5452841"/>
            <a:ext cx="1660883" cy="4114800"/>
          </a:xfrm>
          <a:custGeom>
            <a:avLst/>
            <a:gdLst/>
            <a:ahLst/>
            <a:cxnLst/>
            <a:rect l="l" t="t" r="r" b="b"/>
            <a:pathLst>
              <a:path w="1660883" h="4114800">
                <a:moveTo>
                  <a:pt x="0" y="0"/>
                </a:moveTo>
                <a:lnTo>
                  <a:pt x="1660882" y="0"/>
                </a:lnTo>
                <a:lnTo>
                  <a:pt x="16608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7" name="Freeform 7"/>
          <p:cNvSpPr/>
          <p:nvPr/>
        </p:nvSpPr>
        <p:spPr>
          <a:xfrm>
            <a:off x="7248754" y="5580952"/>
            <a:ext cx="1660883" cy="4114800"/>
          </a:xfrm>
          <a:custGeom>
            <a:avLst/>
            <a:gdLst/>
            <a:ahLst/>
            <a:cxnLst/>
            <a:rect l="l" t="t" r="r" b="b"/>
            <a:pathLst>
              <a:path w="1660883" h="4114800">
                <a:moveTo>
                  <a:pt x="0" y="0"/>
                </a:moveTo>
                <a:lnTo>
                  <a:pt x="1660883" y="0"/>
                </a:lnTo>
                <a:lnTo>
                  <a:pt x="16608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8" name="AutoShape 8"/>
          <p:cNvSpPr/>
          <p:nvPr/>
        </p:nvSpPr>
        <p:spPr>
          <a:xfrm flipV="1">
            <a:off x="2505271" y="3033869"/>
            <a:ext cx="10261754" cy="0"/>
          </a:xfrm>
          <a:prstGeom prst="line">
            <a:avLst/>
          </a:prstGeom>
          <a:ln w="1333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sp>
        <p:nvSpPr>
          <p:cNvPr id="9" name="AutoShape 9"/>
          <p:cNvSpPr/>
          <p:nvPr/>
        </p:nvSpPr>
        <p:spPr>
          <a:xfrm flipH="1" flipV="1">
            <a:off x="2505271" y="3033869"/>
            <a:ext cx="66675" cy="2547083"/>
          </a:xfrm>
          <a:prstGeom prst="line">
            <a:avLst/>
          </a:prstGeom>
          <a:ln w="1333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sp>
        <p:nvSpPr>
          <p:cNvPr id="10" name="AutoShape 10"/>
          <p:cNvSpPr/>
          <p:nvPr/>
        </p:nvSpPr>
        <p:spPr>
          <a:xfrm flipH="1" flipV="1">
            <a:off x="8045858" y="3035613"/>
            <a:ext cx="66675" cy="2547083"/>
          </a:xfrm>
          <a:prstGeom prst="line">
            <a:avLst/>
          </a:prstGeom>
          <a:ln w="1333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>
          <a:xfrm>
            <a:off x="12943158" y="1914817"/>
            <a:ext cx="4972217" cy="4114800"/>
          </a:xfrm>
          <a:custGeom>
            <a:avLst/>
            <a:gdLst/>
            <a:ahLst/>
            <a:cxnLst/>
            <a:rect l="l" t="t" r="r" b="b"/>
            <a:pathLst>
              <a:path w="4972217" h="4114800">
                <a:moveTo>
                  <a:pt x="0" y="0"/>
                </a:moveTo>
                <a:lnTo>
                  <a:pt x="4972217" y="0"/>
                </a:lnTo>
                <a:lnTo>
                  <a:pt x="49722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2" name="TextBox 12"/>
          <p:cNvSpPr txBox="1"/>
          <p:nvPr/>
        </p:nvSpPr>
        <p:spPr>
          <a:xfrm>
            <a:off x="1028700" y="489903"/>
            <a:ext cx="15868174" cy="18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MRS IMAGING OVERVIEW</a:t>
            </a:r>
          </a:p>
          <a:p>
            <a:pPr marL="0" lvl="0" indent="0" algn="l">
              <a:lnSpc>
                <a:spcPts val="7280"/>
              </a:lnSpc>
            </a:pPr>
            <a:endParaRPr lang="en-US" sz="5200" b="1" spc="26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022154" y="6241483"/>
            <a:ext cx="2758792" cy="445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6"/>
              </a:lnSpc>
              <a:spcBef>
                <a:spcPct val="0"/>
              </a:spcBef>
            </a:pPr>
            <a:r>
              <a:rPr lang="en-US" sz="2640" spc="26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Magnetic Field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18F6C07-7120-A88F-247C-E6BC94A04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6" name="Slide Number Placeholder 14">
            <a:extLst>
              <a:ext uri="{FF2B5EF4-FFF2-40B4-BE49-F238E27FC236}">
                <a16:creationId xmlns:a16="http://schemas.microsoft.com/office/drawing/2014/main" id="{56898E58-33B3-04E1-F3DB-D1DA12E79B23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27</a:t>
            </a:fld>
            <a:endParaRPr lang="en-US" sz="3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09268" y="2081830"/>
            <a:ext cx="9669463" cy="8002046"/>
          </a:xfrm>
          <a:custGeom>
            <a:avLst/>
            <a:gdLst/>
            <a:ahLst/>
            <a:cxnLst/>
            <a:rect l="l" t="t" r="r" b="b"/>
            <a:pathLst>
              <a:path w="9669463" h="8002046">
                <a:moveTo>
                  <a:pt x="0" y="0"/>
                </a:moveTo>
                <a:lnTo>
                  <a:pt x="9669464" y="0"/>
                </a:lnTo>
                <a:lnTo>
                  <a:pt x="9669464" y="8002045"/>
                </a:lnTo>
                <a:lnTo>
                  <a:pt x="0" y="80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4759896" y="2720405"/>
            <a:ext cx="8768209" cy="4399706"/>
          </a:xfrm>
          <a:custGeom>
            <a:avLst/>
            <a:gdLst/>
            <a:ahLst/>
            <a:cxnLst/>
            <a:rect l="l" t="t" r="r" b="b"/>
            <a:pathLst>
              <a:path w="8768209" h="4399706">
                <a:moveTo>
                  <a:pt x="0" y="0"/>
                </a:moveTo>
                <a:lnTo>
                  <a:pt x="8768208" y="0"/>
                </a:lnTo>
                <a:lnTo>
                  <a:pt x="8768208" y="4399706"/>
                </a:lnTo>
                <a:lnTo>
                  <a:pt x="0" y="4399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TextBox 4"/>
          <p:cNvSpPr txBox="1"/>
          <p:nvPr/>
        </p:nvSpPr>
        <p:spPr>
          <a:xfrm>
            <a:off x="1028700" y="489903"/>
            <a:ext cx="15868174" cy="18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MRS IMAGING OVERVIEW</a:t>
            </a:r>
          </a:p>
          <a:p>
            <a:pPr marL="0" lvl="0" indent="0" algn="l">
              <a:lnSpc>
                <a:spcPts val="7280"/>
              </a:lnSpc>
            </a:pPr>
            <a:endParaRPr lang="en-US" sz="5200" b="1" spc="26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79650" y="9668584"/>
            <a:ext cx="3430350" cy="397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(Robertson and Cox)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DD8E1-9FDC-2FE9-94B9-3628503FC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8" name="Slide Number Placeholder 14">
            <a:extLst>
              <a:ext uri="{FF2B5EF4-FFF2-40B4-BE49-F238E27FC236}">
                <a16:creationId xmlns:a16="http://schemas.microsoft.com/office/drawing/2014/main" id="{DB03D1FC-E67B-154D-EA3A-623A1709BF3C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28</a:t>
            </a:fld>
            <a:endParaRPr lang="en-US" sz="3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89903"/>
            <a:ext cx="15868174" cy="18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MRS IMAGING : TOTAL CHOLINE</a:t>
            </a:r>
          </a:p>
          <a:p>
            <a:pPr marL="0" lvl="0" indent="0" algn="l">
              <a:lnSpc>
                <a:spcPts val="7280"/>
              </a:lnSpc>
            </a:pPr>
            <a:endParaRPr lang="en-US" sz="5200" b="1" spc="26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293551" y="2949899"/>
            <a:ext cx="9338472" cy="4387202"/>
          </a:xfrm>
          <a:custGeom>
            <a:avLst/>
            <a:gdLst/>
            <a:ahLst/>
            <a:cxnLst/>
            <a:rect l="l" t="t" r="r" b="b"/>
            <a:pathLst>
              <a:path w="9338472" h="4387202">
                <a:moveTo>
                  <a:pt x="0" y="0"/>
                </a:moveTo>
                <a:lnTo>
                  <a:pt x="9338472" y="0"/>
                </a:lnTo>
                <a:lnTo>
                  <a:pt x="9338472" y="4387202"/>
                </a:lnTo>
                <a:lnTo>
                  <a:pt x="0" y="4387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14">
            <a:extLst>
              <a:ext uri="{FF2B5EF4-FFF2-40B4-BE49-F238E27FC236}">
                <a16:creationId xmlns:a16="http://schemas.microsoft.com/office/drawing/2014/main" id="{9D925DD4-0B6E-8EA4-E79B-90012EB9C1A9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29</a:t>
            </a:fld>
            <a:endParaRPr lang="en-US" sz="3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9006" y="1630308"/>
            <a:ext cx="7288426" cy="4846803"/>
          </a:xfrm>
          <a:custGeom>
            <a:avLst/>
            <a:gdLst/>
            <a:ahLst/>
            <a:cxnLst/>
            <a:rect l="l" t="t" r="r" b="b"/>
            <a:pathLst>
              <a:path w="7288426" h="4846803">
                <a:moveTo>
                  <a:pt x="0" y="0"/>
                </a:moveTo>
                <a:lnTo>
                  <a:pt x="7288425" y="0"/>
                </a:lnTo>
                <a:lnTo>
                  <a:pt x="7288425" y="4846803"/>
                </a:lnTo>
                <a:lnTo>
                  <a:pt x="0" y="4846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 rot="-2796479">
            <a:off x="65247" y="5099551"/>
            <a:ext cx="3030882" cy="1485132"/>
          </a:xfrm>
          <a:custGeom>
            <a:avLst/>
            <a:gdLst/>
            <a:ahLst/>
            <a:cxnLst/>
            <a:rect l="l" t="t" r="r" b="b"/>
            <a:pathLst>
              <a:path w="3030882" h="1485132">
                <a:moveTo>
                  <a:pt x="0" y="0"/>
                </a:moveTo>
                <a:lnTo>
                  <a:pt x="3030882" y="0"/>
                </a:lnTo>
                <a:lnTo>
                  <a:pt x="3030882" y="1485133"/>
                </a:lnTo>
                <a:lnTo>
                  <a:pt x="0" y="14851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0650536" y="1708939"/>
            <a:ext cx="6368560" cy="3652837"/>
          </a:xfrm>
          <a:custGeom>
            <a:avLst/>
            <a:gdLst/>
            <a:ahLst/>
            <a:cxnLst/>
            <a:rect l="l" t="t" r="r" b="b"/>
            <a:pathLst>
              <a:path w="6368560" h="3652837">
                <a:moveTo>
                  <a:pt x="0" y="0"/>
                </a:moveTo>
                <a:lnTo>
                  <a:pt x="6368560" y="0"/>
                </a:lnTo>
                <a:lnTo>
                  <a:pt x="6368560" y="3652838"/>
                </a:lnTo>
                <a:lnTo>
                  <a:pt x="0" y="36528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5" name="Freeform 5"/>
          <p:cNvSpPr/>
          <p:nvPr/>
        </p:nvSpPr>
        <p:spPr>
          <a:xfrm>
            <a:off x="8412808" y="6227363"/>
            <a:ext cx="8606288" cy="3133227"/>
          </a:xfrm>
          <a:custGeom>
            <a:avLst/>
            <a:gdLst/>
            <a:ahLst/>
            <a:cxnLst/>
            <a:rect l="l" t="t" r="r" b="b"/>
            <a:pathLst>
              <a:path w="8606288" h="3133227">
                <a:moveTo>
                  <a:pt x="0" y="0"/>
                </a:moveTo>
                <a:lnTo>
                  <a:pt x="8606288" y="0"/>
                </a:lnTo>
                <a:lnTo>
                  <a:pt x="8606288" y="3133226"/>
                </a:lnTo>
                <a:lnTo>
                  <a:pt x="0" y="31332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6" name="TextBox 6"/>
          <p:cNvSpPr txBox="1"/>
          <p:nvPr/>
        </p:nvSpPr>
        <p:spPr>
          <a:xfrm>
            <a:off x="1028700" y="489903"/>
            <a:ext cx="15868174" cy="18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MRS IMAGING : TOTAL CHOLINE</a:t>
            </a:r>
          </a:p>
          <a:p>
            <a:pPr marL="0" lvl="0" indent="0" algn="l">
              <a:lnSpc>
                <a:spcPts val="7280"/>
              </a:lnSpc>
            </a:pPr>
            <a:endParaRPr lang="en-US" sz="5200" b="1" spc="26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49006" y="7386802"/>
            <a:ext cx="6114976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spc="3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Phosphatidylcholine (pCho)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45012" y="5168721"/>
            <a:ext cx="3033192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spc="3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Choline (Cho)</a:t>
            </a:r>
          </a:p>
        </p:txBody>
      </p:sp>
      <p:sp>
        <p:nvSpPr>
          <p:cNvPr id="9" name="Freeform 9"/>
          <p:cNvSpPr/>
          <p:nvPr/>
        </p:nvSpPr>
        <p:spPr>
          <a:xfrm rot="8263737">
            <a:off x="10188016" y="2270486"/>
            <a:ext cx="4758438" cy="2331635"/>
          </a:xfrm>
          <a:custGeom>
            <a:avLst/>
            <a:gdLst/>
            <a:ahLst/>
            <a:cxnLst/>
            <a:rect l="l" t="t" r="r" b="b"/>
            <a:pathLst>
              <a:path w="4758438" h="2331635">
                <a:moveTo>
                  <a:pt x="0" y="0"/>
                </a:moveTo>
                <a:lnTo>
                  <a:pt x="4758438" y="0"/>
                </a:lnTo>
                <a:lnTo>
                  <a:pt x="4758438" y="2331634"/>
                </a:lnTo>
                <a:lnTo>
                  <a:pt x="0" y="23316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0" name="Freeform 10"/>
          <p:cNvSpPr/>
          <p:nvPr/>
        </p:nvSpPr>
        <p:spPr>
          <a:xfrm rot="8182901">
            <a:off x="7642391" y="6119858"/>
            <a:ext cx="4223587" cy="2069558"/>
          </a:xfrm>
          <a:custGeom>
            <a:avLst/>
            <a:gdLst/>
            <a:ahLst/>
            <a:cxnLst/>
            <a:rect l="l" t="t" r="r" b="b"/>
            <a:pathLst>
              <a:path w="4223587" h="2069558">
                <a:moveTo>
                  <a:pt x="0" y="0"/>
                </a:moveTo>
                <a:lnTo>
                  <a:pt x="4223587" y="0"/>
                </a:lnTo>
                <a:lnTo>
                  <a:pt x="4223587" y="2069558"/>
                </a:lnTo>
                <a:lnTo>
                  <a:pt x="0" y="20695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11" name="TextBox 11"/>
          <p:cNvSpPr txBox="1"/>
          <p:nvPr/>
        </p:nvSpPr>
        <p:spPr>
          <a:xfrm>
            <a:off x="8857396" y="9293914"/>
            <a:ext cx="7419677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spc="32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Glycerophosphorylcholine (gCho)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4800" y="9688289"/>
            <a:ext cx="2591334" cy="397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(Sigma-Aldrich)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B2A0939-BB1B-AE08-4C44-E184FEF05ED4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30</a:t>
            </a:fld>
            <a:endParaRPr lang="en-US" sz="3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06843" y="1740947"/>
            <a:ext cx="6874315" cy="7822833"/>
          </a:xfrm>
          <a:custGeom>
            <a:avLst/>
            <a:gdLst/>
            <a:ahLst/>
            <a:cxnLst/>
            <a:rect l="l" t="t" r="r" b="b"/>
            <a:pathLst>
              <a:path w="6874315" h="7822833">
                <a:moveTo>
                  <a:pt x="0" y="0"/>
                </a:moveTo>
                <a:lnTo>
                  <a:pt x="6874314" y="0"/>
                </a:lnTo>
                <a:lnTo>
                  <a:pt x="6874314" y="7822833"/>
                </a:lnTo>
                <a:lnTo>
                  <a:pt x="0" y="78228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TextBox 3"/>
          <p:cNvSpPr txBox="1"/>
          <p:nvPr/>
        </p:nvSpPr>
        <p:spPr>
          <a:xfrm>
            <a:off x="1028700" y="489903"/>
            <a:ext cx="15868174" cy="1858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MRS IMAGING : TOTAL CHOLINE</a:t>
            </a:r>
          </a:p>
          <a:p>
            <a:pPr marL="0" lvl="0" indent="0" algn="l">
              <a:lnSpc>
                <a:spcPts val="7280"/>
              </a:lnSpc>
            </a:pPr>
            <a:endParaRPr lang="en-US" sz="5200" b="1" spc="260">
              <a:solidFill>
                <a:srgbClr val="000000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96686" y="9506630"/>
            <a:ext cx="3665714" cy="397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(Iorio et al. 2021)</a:t>
            </a:r>
          </a:p>
        </p:txBody>
      </p:sp>
      <p:sp>
        <p:nvSpPr>
          <p:cNvPr id="7" name="Slide Number Placeholder 14">
            <a:extLst>
              <a:ext uri="{FF2B5EF4-FFF2-40B4-BE49-F238E27FC236}">
                <a16:creationId xmlns:a16="http://schemas.microsoft.com/office/drawing/2014/main" id="{8F617102-DDCA-D199-9DDF-9FD87A97C8FA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31</a:t>
            </a:fld>
            <a:endParaRPr lang="en-US" sz="3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495558" y="353737"/>
            <a:ext cx="15868174" cy="94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OUTCOMES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28398" y="3546543"/>
            <a:ext cx="17465347" cy="872365"/>
            <a:chOff x="0" y="0"/>
            <a:chExt cx="4413079" cy="2204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13079" cy="220426"/>
            </a:xfrm>
            <a:custGeom>
              <a:avLst/>
              <a:gdLst/>
              <a:ahLst/>
              <a:cxnLst/>
              <a:rect l="l" t="t" r="r" b="b"/>
              <a:pathLst>
                <a:path w="4413079" h="220426">
                  <a:moveTo>
                    <a:pt x="0" y="0"/>
                  </a:moveTo>
                  <a:lnTo>
                    <a:pt x="4413079" y="0"/>
                  </a:lnTo>
                  <a:lnTo>
                    <a:pt x="4413079" y="220426"/>
                  </a:lnTo>
                  <a:lnTo>
                    <a:pt x="0" y="220426"/>
                  </a:lnTo>
                  <a:close/>
                </a:path>
              </a:pathLst>
            </a:custGeom>
            <a:solidFill>
              <a:srgbClr val="4E6E81">
                <a:alpha val="49804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413079" cy="268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428398" y="3441722"/>
          <a:ext cx="3146245" cy="952059"/>
        </p:xfrm>
        <a:graphic>
          <a:graphicData uri="http://schemas.openxmlformats.org/drawingml/2006/table">
            <a:tbl>
              <a:tblPr/>
              <a:tblGrid>
                <a:gridCol w="3146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1619">
                <a:tc>
                  <a:txBody>
                    <a:bodyPr/>
                    <a:lstStyle/>
                    <a:p>
                      <a:pPr algn="ctr">
                        <a:lnSpc>
                          <a:spcPts val="4669"/>
                        </a:lnSpc>
                        <a:defRPr/>
                      </a:pPr>
                      <a:r>
                        <a:rPr lang="en-US" sz="3335" b="1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Cell stiffness</a:t>
                      </a: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3466700" y="3415016"/>
          <a:ext cx="3146245" cy="952059"/>
        </p:xfrm>
        <a:graphic>
          <a:graphicData uri="http://schemas.openxmlformats.org/drawingml/2006/table">
            <a:tbl>
              <a:tblPr/>
              <a:tblGrid>
                <a:gridCol w="3146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1619">
                <a:tc>
                  <a:txBody>
                    <a:bodyPr/>
                    <a:lstStyle/>
                    <a:p>
                      <a:pPr algn="ctr">
                        <a:lnSpc>
                          <a:spcPts val="4669"/>
                        </a:lnSpc>
                        <a:defRPr/>
                      </a:pPr>
                      <a:r>
                        <a:rPr lang="en-US" sz="3335" b="1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tCho level</a:t>
                      </a: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1" name="Group 11"/>
          <p:cNvGrpSpPr/>
          <p:nvPr/>
        </p:nvGrpSpPr>
        <p:grpSpPr>
          <a:xfrm>
            <a:off x="428398" y="4421733"/>
            <a:ext cx="17465347" cy="841677"/>
            <a:chOff x="0" y="0"/>
            <a:chExt cx="4413079" cy="2126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13079" cy="212672"/>
            </a:xfrm>
            <a:custGeom>
              <a:avLst/>
              <a:gdLst/>
              <a:ahLst/>
              <a:cxnLst/>
              <a:rect l="l" t="t" r="r" b="b"/>
              <a:pathLst>
                <a:path w="4413079" h="212672">
                  <a:moveTo>
                    <a:pt x="0" y="0"/>
                  </a:moveTo>
                  <a:lnTo>
                    <a:pt x="4413079" y="0"/>
                  </a:lnTo>
                  <a:lnTo>
                    <a:pt x="4413079" y="212672"/>
                  </a:lnTo>
                  <a:lnTo>
                    <a:pt x="0" y="212672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413079" cy="260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28398" y="4450308"/>
            <a:ext cx="17465347" cy="2329903"/>
            <a:chOff x="0" y="0"/>
            <a:chExt cx="4413079" cy="5887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413079" cy="588711"/>
            </a:xfrm>
            <a:custGeom>
              <a:avLst/>
              <a:gdLst/>
              <a:ahLst/>
              <a:cxnLst/>
              <a:rect l="l" t="t" r="r" b="b"/>
              <a:pathLst>
                <a:path w="4413079" h="588711">
                  <a:moveTo>
                    <a:pt x="0" y="0"/>
                  </a:moveTo>
                  <a:lnTo>
                    <a:pt x="4413079" y="0"/>
                  </a:lnTo>
                  <a:lnTo>
                    <a:pt x="4413079" y="588711"/>
                  </a:lnTo>
                  <a:lnTo>
                    <a:pt x="0" y="588711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413079" cy="6363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 flipH="1" flipV="1">
            <a:off x="3466700" y="3546543"/>
            <a:ext cx="0" cy="32336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graphicFrame>
        <p:nvGraphicFramePr>
          <p:cNvPr id="18" name="Table 18"/>
          <p:cNvGraphicFramePr>
            <a:graphicFrameLocks noGrp="1"/>
          </p:cNvGraphicFramePr>
          <p:nvPr/>
        </p:nvGraphicFramePr>
        <p:xfrm>
          <a:off x="6524859" y="3415016"/>
          <a:ext cx="6174299" cy="952059"/>
        </p:xfrm>
        <a:graphic>
          <a:graphicData uri="http://schemas.openxmlformats.org/drawingml/2006/table">
            <a:tbl>
              <a:tblPr/>
              <a:tblGrid>
                <a:gridCol w="6174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1619">
                <a:tc>
                  <a:txBody>
                    <a:bodyPr/>
                    <a:lstStyle/>
                    <a:p>
                      <a:pPr algn="ctr">
                        <a:lnSpc>
                          <a:spcPts val="4669"/>
                        </a:lnSpc>
                        <a:defRPr/>
                      </a:pPr>
                      <a:r>
                        <a:rPr lang="en-US" sz="3335" b="1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Interpretation</a:t>
                      </a: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6505002" y="4353966"/>
          <a:ext cx="7333080" cy="776926"/>
        </p:xfrm>
        <a:graphic>
          <a:graphicData uri="http://schemas.openxmlformats.org/drawingml/2006/table">
            <a:tbl>
              <a:tblPr/>
              <a:tblGrid>
                <a:gridCol w="733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8017">
                <a:tc>
                  <a:txBody>
                    <a:bodyPr/>
                    <a:lstStyle/>
                    <a:p>
                      <a:pPr algn="l">
                        <a:lnSpc>
                          <a:spcPts val="3648"/>
                        </a:lnSpc>
                        <a:defRPr/>
                      </a:pP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12429309" y="3441722"/>
          <a:ext cx="5675942" cy="952059"/>
        </p:xfrm>
        <a:graphic>
          <a:graphicData uri="http://schemas.openxmlformats.org/drawingml/2006/table">
            <a:tbl>
              <a:tblPr/>
              <a:tblGrid>
                <a:gridCol w="56759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51619">
                <a:tc>
                  <a:txBody>
                    <a:bodyPr/>
                    <a:lstStyle/>
                    <a:p>
                      <a:pPr algn="ctr">
                        <a:lnSpc>
                          <a:spcPts val="4669"/>
                        </a:lnSpc>
                        <a:defRPr/>
                      </a:pPr>
                      <a:r>
                        <a:rPr lang="en-US" sz="3335" b="1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Future endeavors</a:t>
                      </a: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Table 21"/>
          <p:cNvGraphicFramePr>
            <a:graphicFrameLocks noGrp="1"/>
          </p:cNvGraphicFramePr>
          <p:nvPr/>
        </p:nvGraphicFramePr>
        <p:xfrm>
          <a:off x="12448359" y="4268701"/>
          <a:ext cx="7333080" cy="776926"/>
        </p:xfrm>
        <a:graphic>
          <a:graphicData uri="http://schemas.openxmlformats.org/drawingml/2006/table">
            <a:tbl>
              <a:tblPr/>
              <a:tblGrid>
                <a:gridCol w="733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5727">
                <a:tc>
                  <a:txBody>
                    <a:bodyPr/>
                    <a:lstStyle/>
                    <a:p>
                      <a:pPr algn="l">
                        <a:lnSpc>
                          <a:spcPts val="3648"/>
                        </a:lnSpc>
                        <a:defRPr/>
                      </a:pP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12448359" y="4356190"/>
          <a:ext cx="5426336" cy="776926"/>
        </p:xfrm>
        <a:graphic>
          <a:graphicData uri="http://schemas.openxmlformats.org/drawingml/2006/table">
            <a:tbl>
              <a:tblPr/>
              <a:tblGrid>
                <a:gridCol w="5426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4623">
                <a:tc>
                  <a:txBody>
                    <a:bodyPr/>
                    <a:lstStyle/>
                    <a:p>
                      <a:pPr algn="l">
                        <a:lnSpc>
                          <a:spcPts val="3569"/>
                        </a:lnSpc>
                        <a:defRPr/>
                      </a:pP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le 23"/>
          <p:cNvGraphicFramePr>
            <a:graphicFrameLocks noGrp="1"/>
          </p:cNvGraphicFramePr>
          <p:nvPr/>
        </p:nvGraphicFramePr>
        <p:xfrm>
          <a:off x="428398" y="5871983"/>
          <a:ext cx="3146245" cy="859095"/>
        </p:xfrm>
        <a:graphic>
          <a:graphicData uri="http://schemas.openxmlformats.org/drawingml/2006/table">
            <a:tbl>
              <a:tblPr/>
              <a:tblGrid>
                <a:gridCol w="3146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9240">
                <a:tc>
                  <a:txBody>
                    <a:bodyPr/>
                    <a:lstStyle/>
                    <a:p>
                      <a:pPr algn="ctr">
                        <a:lnSpc>
                          <a:spcPts val="3940"/>
                        </a:lnSpc>
                        <a:defRPr/>
                      </a:pPr>
                      <a:r>
                        <a:rPr lang="en-US" sz="2814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Increase</a:t>
                      </a: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458183" y="4353966"/>
          <a:ext cx="3146245" cy="859095"/>
        </p:xfrm>
        <a:graphic>
          <a:graphicData uri="http://schemas.openxmlformats.org/drawingml/2006/table">
            <a:tbl>
              <a:tblPr/>
              <a:tblGrid>
                <a:gridCol w="3146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9240">
                <a:tc>
                  <a:txBody>
                    <a:bodyPr/>
                    <a:lstStyle/>
                    <a:p>
                      <a:pPr algn="ctr">
                        <a:lnSpc>
                          <a:spcPts val="3940"/>
                        </a:lnSpc>
                        <a:defRPr/>
                      </a:pPr>
                      <a:r>
                        <a:rPr lang="en-US" sz="2814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Decrease</a:t>
                      </a: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5"/>
          <p:cNvGraphicFramePr>
            <a:graphicFrameLocks noGrp="1"/>
          </p:cNvGraphicFramePr>
          <p:nvPr/>
        </p:nvGraphicFramePr>
        <p:xfrm>
          <a:off x="458183" y="5119854"/>
          <a:ext cx="3146245" cy="859095"/>
        </p:xfrm>
        <a:graphic>
          <a:graphicData uri="http://schemas.openxmlformats.org/drawingml/2006/table">
            <a:tbl>
              <a:tblPr/>
              <a:tblGrid>
                <a:gridCol w="3146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6994">
                <a:tc>
                  <a:txBody>
                    <a:bodyPr/>
                    <a:lstStyle/>
                    <a:p>
                      <a:pPr algn="ctr">
                        <a:lnSpc>
                          <a:spcPts val="3940"/>
                        </a:lnSpc>
                        <a:defRPr/>
                      </a:pPr>
                      <a:r>
                        <a:rPr lang="en-US" sz="2814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 change</a:t>
                      </a: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Table 26"/>
          <p:cNvGraphicFramePr>
            <a:graphicFrameLocks noGrp="1"/>
          </p:cNvGraphicFramePr>
          <p:nvPr/>
        </p:nvGraphicFramePr>
        <p:xfrm>
          <a:off x="3446844" y="5871983"/>
          <a:ext cx="3146245" cy="859095"/>
        </p:xfrm>
        <a:graphic>
          <a:graphicData uri="http://schemas.openxmlformats.org/drawingml/2006/table">
            <a:tbl>
              <a:tblPr/>
              <a:tblGrid>
                <a:gridCol w="3146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9240">
                <a:tc>
                  <a:txBody>
                    <a:bodyPr/>
                    <a:lstStyle/>
                    <a:p>
                      <a:pPr algn="ctr">
                        <a:lnSpc>
                          <a:spcPts val="3940"/>
                        </a:lnSpc>
                        <a:defRPr/>
                      </a:pPr>
                      <a:r>
                        <a:rPr lang="en-US" sz="2814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Increase</a:t>
                      </a: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Table 27"/>
          <p:cNvGraphicFramePr>
            <a:graphicFrameLocks noGrp="1"/>
          </p:cNvGraphicFramePr>
          <p:nvPr/>
        </p:nvGraphicFramePr>
        <p:xfrm>
          <a:off x="3466700" y="4353966"/>
          <a:ext cx="3146245" cy="859095"/>
        </p:xfrm>
        <a:graphic>
          <a:graphicData uri="http://schemas.openxmlformats.org/drawingml/2006/table">
            <a:tbl>
              <a:tblPr/>
              <a:tblGrid>
                <a:gridCol w="3146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9240">
                <a:tc>
                  <a:txBody>
                    <a:bodyPr/>
                    <a:lstStyle/>
                    <a:p>
                      <a:pPr algn="ctr">
                        <a:lnSpc>
                          <a:spcPts val="3940"/>
                        </a:lnSpc>
                        <a:defRPr/>
                      </a:pPr>
                      <a:r>
                        <a:rPr lang="en-US" sz="2814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Increase</a:t>
                      </a: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le 28"/>
          <p:cNvGraphicFramePr>
            <a:graphicFrameLocks noGrp="1"/>
          </p:cNvGraphicFramePr>
          <p:nvPr/>
        </p:nvGraphicFramePr>
        <p:xfrm>
          <a:off x="3446844" y="5119854"/>
          <a:ext cx="3146245" cy="859095"/>
        </p:xfrm>
        <a:graphic>
          <a:graphicData uri="http://schemas.openxmlformats.org/drawingml/2006/table">
            <a:tbl>
              <a:tblPr/>
              <a:tblGrid>
                <a:gridCol w="3146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6994">
                <a:tc>
                  <a:txBody>
                    <a:bodyPr/>
                    <a:lstStyle/>
                    <a:p>
                      <a:pPr algn="ctr">
                        <a:lnSpc>
                          <a:spcPts val="3940"/>
                        </a:lnSpc>
                        <a:defRPr/>
                      </a:pPr>
                      <a:r>
                        <a:rPr lang="en-US" sz="2814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Increase</a:t>
                      </a: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le 29"/>
          <p:cNvGraphicFramePr>
            <a:graphicFrameLocks noGrp="1"/>
          </p:cNvGraphicFramePr>
          <p:nvPr/>
        </p:nvGraphicFramePr>
        <p:xfrm>
          <a:off x="6495074" y="5134406"/>
          <a:ext cx="7333080" cy="776926"/>
        </p:xfrm>
        <a:graphic>
          <a:graphicData uri="http://schemas.openxmlformats.org/drawingml/2006/table">
            <a:tbl>
              <a:tblPr/>
              <a:tblGrid>
                <a:gridCol w="733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5727">
                <a:tc>
                  <a:txBody>
                    <a:bodyPr/>
                    <a:lstStyle/>
                    <a:p>
                      <a:pPr algn="l">
                        <a:lnSpc>
                          <a:spcPts val="3648"/>
                        </a:lnSpc>
                        <a:defRPr/>
                      </a:pP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115519"/>
              </p:ext>
            </p:extLst>
          </p:nvPr>
        </p:nvGraphicFramePr>
        <p:xfrm>
          <a:off x="5763105" y="8496300"/>
          <a:ext cx="7333080" cy="776926"/>
        </p:xfrm>
        <a:graphic>
          <a:graphicData uri="http://schemas.openxmlformats.org/drawingml/2006/table">
            <a:tbl>
              <a:tblPr/>
              <a:tblGrid>
                <a:gridCol w="733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5727">
                <a:tc>
                  <a:txBody>
                    <a:bodyPr/>
                    <a:lstStyle/>
                    <a:p>
                      <a:pPr algn="l">
                        <a:lnSpc>
                          <a:spcPts val="3648"/>
                        </a:lnSpc>
                        <a:defRPr/>
                      </a:pPr>
                      <a:endParaRPr lang="en-US" sz="1100" dirty="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le 31"/>
          <p:cNvGraphicFramePr>
            <a:graphicFrameLocks noGrp="1"/>
          </p:cNvGraphicFramePr>
          <p:nvPr/>
        </p:nvGraphicFramePr>
        <p:xfrm>
          <a:off x="12448359" y="5869863"/>
          <a:ext cx="5656085" cy="776926"/>
        </p:xfrm>
        <a:graphic>
          <a:graphicData uri="http://schemas.openxmlformats.org/drawingml/2006/table">
            <a:tbl>
              <a:tblPr/>
              <a:tblGrid>
                <a:gridCol w="5656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5727">
                <a:tc>
                  <a:txBody>
                    <a:bodyPr/>
                    <a:lstStyle/>
                    <a:p>
                      <a:pPr algn="l">
                        <a:lnSpc>
                          <a:spcPts val="3575"/>
                        </a:lnSpc>
                        <a:defRPr/>
                      </a:pP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32"/>
          <p:cNvGraphicFramePr>
            <a:graphicFrameLocks noGrp="1"/>
          </p:cNvGraphicFramePr>
          <p:nvPr/>
        </p:nvGraphicFramePr>
        <p:xfrm>
          <a:off x="6524859" y="4353966"/>
          <a:ext cx="7333080" cy="776926"/>
        </p:xfrm>
        <a:graphic>
          <a:graphicData uri="http://schemas.openxmlformats.org/drawingml/2006/table">
            <a:tbl>
              <a:tblPr/>
              <a:tblGrid>
                <a:gridCol w="733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5727">
                <a:tc>
                  <a:txBody>
                    <a:bodyPr/>
                    <a:lstStyle/>
                    <a:p>
                      <a:pPr algn="l">
                        <a:lnSpc>
                          <a:spcPts val="3648"/>
                        </a:lnSpc>
                        <a:defRPr/>
                      </a:pP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" name="Table 33"/>
          <p:cNvGraphicFramePr>
            <a:graphicFrameLocks noGrp="1"/>
          </p:cNvGraphicFramePr>
          <p:nvPr/>
        </p:nvGraphicFramePr>
        <p:xfrm>
          <a:off x="12448359" y="5120656"/>
          <a:ext cx="5870910" cy="823789"/>
        </p:xfrm>
        <a:graphic>
          <a:graphicData uri="http://schemas.openxmlformats.org/drawingml/2006/table">
            <a:tbl>
              <a:tblPr/>
              <a:tblGrid>
                <a:gridCol w="5870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5727">
                <a:tc>
                  <a:txBody>
                    <a:bodyPr/>
                    <a:lstStyle/>
                    <a:p>
                      <a:pPr algn="l">
                        <a:lnSpc>
                          <a:spcPts val="3648"/>
                        </a:lnSpc>
                        <a:defRPr/>
                      </a:pPr>
                      <a:r>
                        <a:rPr lang="en-US" sz="2605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Time-targeted combination therapy</a:t>
                      </a: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le 34"/>
          <p:cNvGraphicFramePr>
            <a:graphicFrameLocks noGrp="1"/>
          </p:cNvGraphicFramePr>
          <p:nvPr/>
        </p:nvGraphicFramePr>
        <p:xfrm>
          <a:off x="6524859" y="5119854"/>
          <a:ext cx="7333080" cy="823789"/>
        </p:xfrm>
        <a:graphic>
          <a:graphicData uri="http://schemas.openxmlformats.org/drawingml/2006/table">
            <a:tbl>
              <a:tblPr/>
              <a:tblGrid>
                <a:gridCol w="733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5727">
                <a:tc>
                  <a:txBody>
                    <a:bodyPr/>
                    <a:lstStyle/>
                    <a:p>
                      <a:pPr algn="l">
                        <a:lnSpc>
                          <a:spcPts val="3648"/>
                        </a:lnSpc>
                        <a:defRPr/>
                      </a:pPr>
                      <a:r>
                        <a:rPr lang="en-US" sz="2605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Adaptive response</a:t>
                      </a: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" name="Table 35"/>
          <p:cNvGraphicFramePr>
            <a:graphicFrameLocks noGrp="1"/>
          </p:cNvGraphicFramePr>
          <p:nvPr/>
        </p:nvGraphicFramePr>
        <p:xfrm>
          <a:off x="12486459" y="5938534"/>
          <a:ext cx="4880541" cy="776926"/>
        </p:xfrm>
        <a:graphic>
          <a:graphicData uri="http://schemas.openxmlformats.org/drawingml/2006/table">
            <a:tbl>
              <a:tblPr/>
              <a:tblGrid>
                <a:gridCol w="4880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8017">
                <a:tc>
                  <a:txBody>
                    <a:bodyPr/>
                    <a:lstStyle/>
                    <a:p>
                      <a:pPr algn="l">
                        <a:lnSpc>
                          <a:spcPts val="3648"/>
                        </a:lnSpc>
                        <a:defRPr/>
                      </a:pPr>
                      <a:endParaRPr lang="en-US" sz="1100"/>
                    </a:p>
                  </a:txBody>
                  <a:tcPr marL="198566" marR="198566" marT="198566" marB="198566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" name="AutoShape 36"/>
          <p:cNvSpPr/>
          <p:nvPr/>
        </p:nvSpPr>
        <p:spPr>
          <a:xfrm flipV="1">
            <a:off x="6465289" y="3556541"/>
            <a:ext cx="806" cy="32236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7" name="AutoShape 37"/>
          <p:cNvSpPr/>
          <p:nvPr/>
        </p:nvSpPr>
        <p:spPr>
          <a:xfrm flipH="1" flipV="1">
            <a:off x="12429309" y="3570290"/>
            <a:ext cx="0" cy="31282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40" name="Slide Number Placeholder 14">
            <a:extLst>
              <a:ext uri="{FF2B5EF4-FFF2-40B4-BE49-F238E27FC236}">
                <a16:creationId xmlns:a16="http://schemas.microsoft.com/office/drawing/2014/main" id="{4D85D3D3-D82A-F204-0616-7073DD015BD9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32</a:t>
            </a:fld>
            <a:endParaRPr lang="en-US" sz="3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70611" y="2257342"/>
            <a:ext cx="24361896" cy="1406374"/>
            <a:chOff x="0" y="0"/>
            <a:chExt cx="3378422" cy="1950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78422" cy="195031"/>
            </a:xfrm>
            <a:custGeom>
              <a:avLst/>
              <a:gdLst/>
              <a:ahLst/>
              <a:cxnLst/>
              <a:rect l="l" t="t" r="r" b="b"/>
              <a:pathLst>
                <a:path w="3378422" h="195031">
                  <a:moveTo>
                    <a:pt x="3175222" y="0"/>
                  </a:moveTo>
                  <a:cubicBezTo>
                    <a:pt x="3287446" y="0"/>
                    <a:pt x="3378422" y="43659"/>
                    <a:pt x="3378422" y="97516"/>
                  </a:cubicBezTo>
                  <a:cubicBezTo>
                    <a:pt x="3378422" y="151372"/>
                    <a:pt x="3287446" y="195031"/>
                    <a:pt x="3175222" y="195031"/>
                  </a:cubicBezTo>
                  <a:lnTo>
                    <a:pt x="203200" y="195031"/>
                  </a:lnTo>
                  <a:cubicBezTo>
                    <a:pt x="90976" y="195031"/>
                    <a:pt x="0" y="151372"/>
                    <a:pt x="0" y="97516"/>
                  </a:cubicBezTo>
                  <a:cubicBezTo>
                    <a:pt x="0" y="43659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78422" cy="242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95558" y="353737"/>
            <a:ext cx="15868174" cy="94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CONCLUSIONS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1495558" y="2475994"/>
          <a:ext cx="14282961" cy="893829"/>
        </p:xfrm>
        <a:graphic>
          <a:graphicData uri="http://schemas.openxmlformats.org/drawingml/2006/table">
            <a:tbl>
              <a:tblPr/>
              <a:tblGrid>
                <a:gridCol w="14282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9748">
                <a:tc>
                  <a:txBody>
                    <a:bodyPr/>
                    <a:lstStyle/>
                    <a:p>
                      <a:pPr algn="l">
                        <a:lnSpc>
                          <a:spcPts val="4208"/>
                        </a:lnSpc>
                        <a:defRPr/>
                      </a:pPr>
                      <a:r>
                        <a:rPr lang="en-US" sz="3005" b="1">
                          <a:solidFill>
                            <a:srgbClr val="4E6E81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Novel biophysical perspective, contributing to our understanding of:</a:t>
                      </a:r>
                      <a:endParaRPr lang="en-US" sz="1100"/>
                    </a:p>
                  </a:txBody>
                  <a:tcPr marL="198566" marR="198566" marT="198566" marB="198566" anchor="ctr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5977761" y="6518158"/>
            <a:ext cx="6332479" cy="2309309"/>
            <a:chOff x="0" y="0"/>
            <a:chExt cx="1667813" cy="60821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67813" cy="608213"/>
            </a:xfrm>
            <a:custGeom>
              <a:avLst/>
              <a:gdLst/>
              <a:ahLst/>
              <a:cxnLst/>
              <a:rect l="l" t="t" r="r" b="b"/>
              <a:pathLst>
                <a:path w="1667813" h="608213">
                  <a:moveTo>
                    <a:pt x="0" y="0"/>
                  </a:moveTo>
                  <a:lnTo>
                    <a:pt x="1667813" y="0"/>
                  </a:lnTo>
                  <a:lnTo>
                    <a:pt x="1667813" y="608213"/>
                  </a:lnTo>
                  <a:lnTo>
                    <a:pt x="0" y="608213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67813" cy="655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495558" y="4567062"/>
          <a:ext cx="6332479" cy="877507"/>
        </p:xfrm>
        <a:graphic>
          <a:graphicData uri="http://schemas.openxmlformats.org/drawingml/2006/table">
            <a:tbl>
              <a:tblPr/>
              <a:tblGrid>
                <a:gridCol w="6332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7697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Hallmarks of cancer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10510337" y="4567062"/>
          <a:ext cx="6332479" cy="867697"/>
        </p:xfrm>
        <a:graphic>
          <a:graphicData uri="http://schemas.openxmlformats.org/drawingml/2006/table">
            <a:tbl>
              <a:tblPr/>
              <a:tblGrid>
                <a:gridCol w="6332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7697">
                <a:tc>
                  <a:txBody>
                    <a:bodyPr/>
                    <a:lstStyle/>
                    <a:p>
                      <a:pPr algn="ctr">
                        <a:lnSpc>
                          <a:spcPts val="4129"/>
                        </a:lnSpc>
                        <a:defRPr/>
                      </a:pPr>
                      <a:r>
                        <a:rPr lang="en-US" sz="294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Possibility of combination therapies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387642"/>
              </p:ext>
            </p:extLst>
          </p:nvPr>
        </p:nvGraphicFramePr>
        <p:xfrm>
          <a:off x="5977761" y="6518158"/>
          <a:ext cx="6332479" cy="2309309"/>
        </p:xfrm>
        <a:graphic>
          <a:graphicData uri="http://schemas.openxmlformats.org/drawingml/2006/table">
            <a:tbl>
              <a:tblPr/>
              <a:tblGrid>
                <a:gridCol w="6332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09309"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1" dirty="0">
                          <a:solidFill>
                            <a:srgbClr val="4E6E81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Cell mechanics in cancers without clear treatment options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Slide Number Placeholder 14">
            <a:extLst>
              <a:ext uri="{FF2B5EF4-FFF2-40B4-BE49-F238E27FC236}">
                <a16:creationId xmlns:a16="http://schemas.microsoft.com/office/drawing/2014/main" id="{F8914C35-8230-B79F-7D5F-B97D05A9B531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33</a:t>
            </a:fld>
            <a:endParaRPr lang="en-US" sz="3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0043" y="0"/>
            <a:ext cx="0" cy="3768928"/>
          </a:xfrm>
          <a:prstGeom prst="line">
            <a:avLst/>
          </a:prstGeom>
          <a:ln w="57150" cap="flat">
            <a:solidFill>
              <a:srgbClr val="4E6E81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grpSp>
        <p:nvGrpSpPr>
          <p:cNvPr id="6" name="Group 6"/>
          <p:cNvGrpSpPr/>
          <p:nvPr/>
        </p:nvGrpSpPr>
        <p:grpSpPr>
          <a:xfrm>
            <a:off x="3188426" y="3416800"/>
            <a:ext cx="11911148" cy="3453401"/>
            <a:chOff x="0" y="0"/>
            <a:chExt cx="3009664" cy="8725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09665" cy="872592"/>
            </a:xfrm>
            <a:custGeom>
              <a:avLst/>
              <a:gdLst/>
              <a:ahLst/>
              <a:cxnLst/>
              <a:rect l="l" t="t" r="r" b="b"/>
              <a:pathLst>
                <a:path w="3009665" h="872592">
                  <a:moveTo>
                    <a:pt x="0" y="0"/>
                  </a:moveTo>
                  <a:lnTo>
                    <a:pt x="3009665" y="0"/>
                  </a:lnTo>
                  <a:lnTo>
                    <a:pt x="3009665" y="872592"/>
                  </a:lnTo>
                  <a:lnTo>
                    <a:pt x="0" y="872592"/>
                  </a:lnTo>
                  <a:close/>
                </a:path>
              </a:pathLst>
            </a:custGeom>
            <a:solidFill>
              <a:srgbClr val="4E6E81">
                <a:alpha val="49804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009664" cy="9202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09913" y="4524375"/>
            <a:ext cx="15868174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</a:pPr>
            <a:r>
              <a:rPr lang="en-US" sz="6000" b="1" spc="30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QUESTIONS?</a:t>
            </a:r>
          </a:p>
        </p:txBody>
      </p:sp>
      <p:sp>
        <p:nvSpPr>
          <p:cNvPr id="12" name="Slide Number Placeholder 14">
            <a:extLst>
              <a:ext uri="{FF2B5EF4-FFF2-40B4-BE49-F238E27FC236}">
                <a16:creationId xmlns:a16="http://schemas.microsoft.com/office/drawing/2014/main" id="{E3C29250-8530-4B88-A507-21BB63483107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34</a:t>
            </a:fld>
            <a:endParaRPr lang="en-US" sz="3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99335" y="2827179"/>
            <a:ext cx="7500352" cy="548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39"/>
              </a:lnSpc>
            </a:pPr>
            <a:r>
              <a:rPr lang="en-US" sz="2899">
                <a:solidFill>
                  <a:srgbClr val="4E6E81"/>
                </a:solidFill>
                <a:latin typeface="Lato"/>
                <a:ea typeface="Lato"/>
                <a:cs typeface="Lato"/>
                <a:sym typeface="Lato"/>
              </a:rPr>
              <a:t>AFM measurements: </a:t>
            </a:r>
            <a:r>
              <a:rPr lang="en-US" sz="28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6 time marks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1771" y="5507564"/>
            <a:ext cx="18288000" cy="4835865"/>
            <a:chOff x="0" y="0"/>
            <a:chExt cx="4816593" cy="12736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273643"/>
            </a:xfrm>
            <a:custGeom>
              <a:avLst/>
              <a:gdLst/>
              <a:ahLst/>
              <a:cxnLst/>
              <a:rect l="l" t="t" r="r" b="b"/>
              <a:pathLst>
                <a:path w="4816592" h="1273643">
                  <a:moveTo>
                    <a:pt x="0" y="0"/>
                  </a:moveTo>
                  <a:lnTo>
                    <a:pt x="4816592" y="0"/>
                  </a:lnTo>
                  <a:lnTo>
                    <a:pt x="4816592" y="1273643"/>
                  </a:lnTo>
                  <a:lnTo>
                    <a:pt x="0" y="1273643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816593" cy="1321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6239140" y="2580100"/>
            <a:ext cx="1461249" cy="5756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10" name="AutoShape 10"/>
          <p:cNvSpPr/>
          <p:nvPr/>
        </p:nvSpPr>
        <p:spPr>
          <a:xfrm>
            <a:off x="6203507" y="3160679"/>
            <a:ext cx="1460854" cy="57544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11" name="AutoShape 11"/>
          <p:cNvSpPr/>
          <p:nvPr/>
        </p:nvSpPr>
        <p:spPr>
          <a:xfrm flipV="1">
            <a:off x="6225238" y="1568983"/>
            <a:ext cx="1425158" cy="15801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12" name="AutoShape 12"/>
          <p:cNvSpPr/>
          <p:nvPr/>
        </p:nvSpPr>
        <p:spPr>
          <a:xfrm>
            <a:off x="6203700" y="3173426"/>
            <a:ext cx="1420329" cy="15774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Box 13"/>
          <p:cNvSpPr txBox="1"/>
          <p:nvPr/>
        </p:nvSpPr>
        <p:spPr>
          <a:xfrm>
            <a:off x="7749985" y="1291806"/>
            <a:ext cx="3114659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Treated DFT1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49985" y="3458947"/>
            <a:ext cx="3114659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Untreated DFT1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49985" y="2302922"/>
            <a:ext cx="3791861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Treated neuroblastoma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49985" y="4470502"/>
            <a:ext cx="3936976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Untreated neuroblastoma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9335" y="7474630"/>
            <a:ext cx="7500352" cy="548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39"/>
              </a:lnSpc>
            </a:pPr>
            <a:r>
              <a:rPr lang="en-US" sz="2899">
                <a:solidFill>
                  <a:srgbClr val="4E6E81"/>
                </a:solidFill>
                <a:latin typeface="Lato"/>
                <a:ea typeface="Lato"/>
                <a:cs typeface="Lato"/>
                <a:sym typeface="Lato"/>
              </a:rPr>
              <a:t>MRS measurements: </a:t>
            </a:r>
            <a:r>
              <a:rPr lang="en-US" sz="28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6 time marks</a:t>
            </a:r>
          </a:p>
        </p:txBody>
      </p:sp>
      <p:sp>
        <p:nvSpPr>
          <p:cNvPr id="18" name="AutoShape 18"/>
          <p:cNvSpPr/>
          <p:nvPr/>
        </p:nvSpPr>
        <p:spPr>
          <a:xfrm flipV="1">
            <a:off x="6239140" y="7227552"/>
            <a:ext cx="1461249" cy="5756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19" name="AutoShape 19"/>
          <p:cNvSpPr/>
          <p:nvPr/>
        </p:nvSpPr>
        <p:spPr>
          <a:xfrm>
            <a:off x="6203507" y="7808130"/>
            <a:ext cx="1460854" cy="57544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20" name="AutoShape 20"/>
          <p:cNvSpPr/>
          <p:nvPr/>
        </p:nvSpPr>
        <p:spPr>
          <a:xfrm flipV="1">
            <a:off x="6225238" y="6216435"/>
            <a:ext cx="1425158" cy="15801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21" name="AutoShape 21"/>
          <p:cNvSpPr/>
          <p:nvPr/>
        </p:nvSpPr>
        <p:spPr>
          <a:xfrm>
            <a:off x="6203700" y="7820877"/>
            <a:ext cx="1420329" cy="15774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Box 22"/>
          <p:cNvSpPr txBox="1"/>
          <p:nvPr/>
        </p:nvSpPr>
        <p:spPr>
          <a:xfrm>
            <a:off x="7749985" y="5939257"/>
            <a:ext cx="3114659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Treated DFT1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49985" y="8106398"/>
            <a:ext cx="3114659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Untreated DFT1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49985" y="6950374"/>
            <a:ext cx="3791861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Treated neuroblastoma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749985" y="9117954"/>
            <a:ext cx="3936976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Untreated neuroblastoma</a:t>
            </a:r>
          </a:p>
        </p:txBody>
      </p:sp>
      <p:sp>
        <p:nvSpPr>
          <p:cNvPr id="26" name="AutoShape 26"/>
          <p:cNvSpPr/>
          <p:nvPr/>
        </p:nvSpPr>
        <p:spPr>
          <a:xfrm>
            <a:off x="9883934" y="1549933"/>
            <a:ext cx="196181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27" name="AutoShape 27"/>
          <p:cNvSpPr/>
          <p:nvPr/>
        </p:nvSpPr>
        <p:spPr>
          <a:xfrm>
            <a:off x="11069655" y="2589625"/>
            <a:ext cx="7698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28" name="AutoShape 28"/>
          <p:cNvSpPr/>
          <p:nvPr/>
        </p:nvSpPr>
        <p:spPr>
          <a:xfrm>
            <a:off x="10088867" y="3736124"/>
            <a:ext cx="175049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29" name="AutoShape 29"/>
          <p:cNvSpPr/>
          <p:nvPr/>
        </p:nvSpPr>
        <p:spPr>
          <a:xfrm>
            <a:off x="11383615" y="4760386"/>
            <a:ext cx="46213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0" name="AutoShape 30"/>
          <p:cNvSpPr/>
          <p:nvPr/>
        </p:nvSpPr>
        <p:spPr>
          <a:xfrm>
            <a:off x="13318292" y="1588033"/>
            <a:ext cx="7698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1" name="AutoShape 31"/>
          <p:cNvSpPr/>
          <p:nvPr/>
        </p:nvSpPr>
        <p:spPr>
          <a:xfrm>
            <a:off x="13318292" y="2599150"/>
            <a:ext cx="7698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2" name="AutoShape 32"/>
          <p:cNvSpPr/>
          <p:nvPr/>
        </p:nvSpPr>
        <p:spPr>
          <a:xfrm>
            <a:off x="13318292" y="3755174"/>
            <a:ext cx="7698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3" name="AutoShape 33"/>
          <p:cNvSpPr/>
          <p:nvPr/>
        </p:nvSpPr>
        <p:spPr>
          <a:xfrm>
            <a:off x="13318292" y="4779436"/>
            <a:ext cx="7698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4" name="AutoShape 34"/>
          <p:cNvSpPr/>
          <p:nvPr/>
        </p:nvSpPr>
        <p:spPr>
          <a:xfrm>
            <a:off x="9883934" y="6200567"/>
            <a:ext cx="196181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5" name="AutoShape 35"/>
          <p:cNvSpPr/>
          <p:nvPr/>
        </p:nvSpPr>
        <p:spPr>
          <a:xfrm>
            <a:off x="11069655" y="7240258"/>
            <a:ext cx="7698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6" name="AutoShape 36"/>
          <p:cNvSpPr/>
          <p:nvPr/>
        </p:nvSpPr>
        <p:spPr>
          <a:xfrm>
            <a:off x="10088867" y="8386757"/>
            <a:ext cx="175049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7" name="AutoShape 37"/>
          <p:cNvSpPr/>
          <p:nvPr/>
        </p:nvSpPr>
        <p:spPr>
          <a:xfrm>
            <a:off x="11383615" y="9411019"/>
            <a:ext cx="46213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8" name="TextBox 38"/>
          <p:cNvSpPr txBox="1"/>
          <p:nvPr/>
        </p:nvSpPr>
        <p:spPr>
          <a:xfrm>
            <a:off x="1495558" y="353737"/>
            <a:ext cx="15868174" cy="94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COLLECTED DATA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078725" y="1291806"/>
            <a:ext cx="1239567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30 cells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326241" y="1291806"/>
            <a:ext cx="2933059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 locations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078725" y="2302922"/>
            <a:ext cx="1239567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30 cells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326241" y="2302922"/>
            <a:ext cx="2933059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 locations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078725" y="3458947"/>
            <a:ext cx="1239567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30 cells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326241" y="3458947"/>
            <a:ext cx="2933059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 locations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078725" y="4483208"/>
            <a:ext cx="1239567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30 cells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4326241" y="4483208"/>
            <a:ext cx="2933059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3 locations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078725" y="5942439"/>
            <a:ext cx="2009391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12 samples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078725" y="6963519"/>
            <a:ext cx="2009391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12 samples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078725" y="9117954"/>
            <a:ext cx="2009391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12 samples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078725" y="8106398"/>
            <a:ext cx="2009391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839"/>
              </a:lnSpc>
            </a:pPr>
            <a:r>
              <a:rPr lang="en-US" sz="23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12 samples</a:t>
            </a:r>
          </a:p>
        </p:txBody>
      </p:sp>
      <p:sp>
        <p:nvSpPr>
          <p:cNvPr id="53" name="Slide Number Placeholder 14">
            <a:extLst>
              <a:ext uri="{FF2B5EF4-FFF2-40B4-BE49-F238E27FC236}">
                <a16:creationId xmlns:a16="http://schemas.microsoft.com/office/drawing/2014/main" id="{EDDF48A3-F78A-9904-7BB8-4E723170D5D3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35</a:t>
            </a:fld>
            <a:endParaRPr lang="en-US" sz="3000" dirty="0"/>
          </a:p>
        </p:txBody>
      </p:sp>
      <p:sp>
        <p:nvSpPr>
          <p:cNvPr id="54" name="Slide Number Placeholder 14">
            <a:extLst>
              <a:ext uri="{FF2B5EF4-FFF2-40B4-BE49-F238E27FC236}">
                <a16:creationId xmlns:a16="http://schemas.microsoft.com/office/drawing/2014/main" id="{A22B8D52-18D2-65D7-010F-968E0555AD84}"/>
              </a:ext>
            </a:extLst>
          </p:cNvPr>
          <p:cNvSpPr txBox="1">
            <a:spLocks/>
          </p:cNvSpPr>
          <p:nvPr/>
        </p:nvSpPr>
        <p:spPr>
          <a:xfrm>
            <a:off x="16002000" y="97205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35</a:t>
            </a:fld>
            <a:endParaRPr lang="en-US" sz="3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499335" y="2827179"/>
            <a:ext cx="7500352" cy="548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39"/>
              </a:lnSpc>
            </a:pPr>
            <a:r>
              <a:rPr lang="en-US" sz="2899">
                <a:solidFill>
                  <a:srgbClr val="4E6E81"/>
                </a:solidFill>
                <a:latin typeface="Lato"/>
                <a:ea typeface="Lato"/>
                <a:cs typeface="Lato"/>
                <a:sym typeface="Lato"/>
              </a:rPr>
              <a:t>AFM measurements: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5451135"/>
            <a:ext cx="18288000" cy="4835865"/>
            <a:chOff x="0" y="0"/>
            <a:chExt cx="4816593" cy="12736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1273643"/>
            </a:xfrm>
            <a:custGeom>
              <a:avLst/>
              <a:gdLst/>
              <a:ahLst/>
              <a:cxnLst/>
              <a:rect l="l" t="t" r="r" b="b"/>
              <a:pathLst>
                <a:path w="4816592" h="1273643">
                  <a:moveTo>
                    <a:pt x="0" y="0"/>
                  </a:moveTo>
                  <a:lnTo>
                    <a:pt x="4816592" y="0"/>
                  </a:lnTo>
                  <a:lnTo>
                    <a:pt x="4816592" y="1273643"/>
                  </a:lnTo>
                  <a:lnTo>
                    <a:pt x="0" y="1273643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816593" cy="13212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9335" y="7474630"/>
            <a:ext cx="3750176" cy="548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39"/>
              </a:lnSpc>
            </a:pPr>
            <a:r>
              <a:rPr lang="en-US" sz="2899">
                <a:solidFill>
                  <a:srgbClr val="4E6E81"/>
                </a:solidFill>
                <a:latin typeface="Lato"/>
                <a:ea typeface="Lato"/>
                <a:cs typeface="Lato"/>
                <a:sym typeface="Lato"/>
              </a:rPr>
              <a:t>MRS measurements: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95558" y="353737"/>
            <a:ext cx="15868174" cy="94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COLLECTED DATA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1126" y="2700179"/>
            <a:ext cx="15868174" cy="821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20"/>
              </a:lnSpc>
            </a:pPr>
            <a:r>
              <a:rPr lang="en-US" sz="4800" b="1" spc="24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720 comparative stiffness values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9913" y="7347631"/>
            <a:ext cx="15868174" cy="821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20"/>
              </a:lnSpc>
            </a:pPr>
            <a:r>
              <a:rPr lang="en-US" sz="4800" b="1" spc="24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288 comparative tCho values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408893" y="3237471"/>
            <a:ext cx="14850407" cy="1095375"/>
            <a:chOff x="0" y="0"/>
            <a:chExt cx="3911218" cy="2884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11218" cy="288494"/>
            </a:xfrm>
            <a:custGeom>
              <a:avLst/>
              <a:gdLst/>
              <a:ahLst/>
              <a:cxnLst/>
              <a:rect l="l" t="t" r="r" b="b"/>
              <a:pathLst>
                <a:path w="3911218" h="288494">
                  <a:moveTo>
                    <a:pt x="0" y="0"/>
                  </a:moveTo>
                  <a:lnTo>
                    <a:pt x="3911218" y="0"/>
                  </a:lnTo>
                  <a:lnTo>
                    <a:pt x="3911218" y="288494"/>
                  </a:lnTo>
                  <a:lnTo>
                    <a:pt x="0" y="288494"/>
                  </a:ln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911218" cy="3361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6452" y="3237471"/>
            <a:ext cx="1412440" cy="1069100"/>
            <a:chOff x="0" y="0"/>
            <a:chExt cx="372001" cy="2815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2001" cy="281574"/>
            </a:xfrm>
            <a:custGeom>
              <a:avLst/>
              <a:gdLst/>
              <a:ahLst/>
              <a:cxnLst/>
              <a:rect l="l" t="t" r="r" b="b"/>
              <a:pathLst>
                <a:path w="372001" h="281574">
                  <a:moveTo>
                    <a:pt x="0" y="0"/>
                  </a:moveTo>
                  <a:lnTo>
                    <a:pt x="372001" y="0"/>
                  </a:lnTo>
                  <a:lnTo>
                    <a:pt x="372001" y="281574"/>
                  </a:lnTo>
                  <a:lnTo>
                    <a:pt x="0" y="281574"/>
                  </a:lnTo>
                  <a:close/>
                </a:path>
              </a:pathLst>
            </a:custGeom>
            <a:solidFill>
              <a:srgbClr val="4E6E81">
                <a:alpha val="77647"/>
              </a:srgbClr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72001" cy="329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996452" y="3239770"/>
          <a:ext cx="1412440" cy="912495"/>
        </p:xfrm>
        <a:graphic>
          <a:graphicData uri="http://schemas.openxmlformats.org/drawingml/2006/table">
            <a:tbl>
              <a:tblPr/>
              <a:tblGrid>
                <a:gridCol w="1412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75880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FFFFFF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AFM</a:t>
                      </a:r>
                      <a:endParaRPr lang="en-US" sz="1100"/>
                    </a:p>
                  </a:txBody>
                  <a:tcPr marL="190500" marR="190500" marT="190500" marB="190500">
                    <a:lnL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2" name="Group 12"/>
          <p:cNvGrpSpPr/>
          <p:nvPr/>
        </p:nvGrpSpPr>
        <p:grpSpPr>
          <a:xfrm>
            <a:off x="996452" y="4306570"/>
            <a:ext cx="2824881" cy="3200400"/>
            <a:chOff x="0" y="0"/>
            <a:chExt cx="744002" cy="8429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44002" cy="842904"/>
            </a:xfrm>
            <a:custGeom>
              <a:avLst/>
              <a:gdLst/>
              <a:ahLst/>
              <a:cxnLst/>
              <a:rect l="l" t="t" r="r" b="b"/>
              <a:pathLst>
                <a:path w="744002" h="842904">
                  <a:moveTo>
                    <a:pt x="0" y="0"/>
                  </a:moveTo>
                  <a:lnTo>
                    <a:pt x="744002" y="0"/>
                  </a:lnTo>
                  <a:lnTo>
                    <a:pt x="744002" y="842904"/>
                  </a:lnTo>
                  <a:lnTo>
                    <a:pt x="0" y="842904"/>
                  </a:lnTo>
                  <a:close/>
                </a:path>
              </a:pathLst>
            </a:custGeom>
            <a:solidFill>
              <a:srgbClr val="4E6E81">
                <a:alpha val="7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744002" cy="8905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996452" y="3237471"/>
          <a:ext cx="16262848" cy="4295776"/>
        </p:xfrm>
        <a:graphic>
          <a:graphicData uri="http://schemas.openxmlformats.org/drawingml/2006/table">
            <a:tbl>
              <a:tblPr/>
              <a:tblGrid>
                <a:gridCol w="2807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9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4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73944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4E6E8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         </a:t>
                      </a:r>
                      <a:r>
                        <a:rPr lang="en-US" sz="3199" b="1">
                          <a:solidFill>
                            <a:srgbClr val="4E6E81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MRS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4E6E81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No change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4E6E81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Increase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4E6E81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Decrease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3944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FFFFFF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No change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Complete resistance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Metabolic adaptation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Signs of stress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3944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FFFFFF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Increase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Alternate resistance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Resistance and compensation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Inconclusive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3944">
                <a:tc>
                  <a:txBody>
                    <a:bodyPr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 b="1">
                          <a:solidFill>
                            <a:srgbClr val="FFFFFF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Decrease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Destabilization without response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Destabilization with response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Successful treatment</a:t>
                      </a:r>
                      <a:endParaRPr lang="en-US" sz="1100"/>
                    </a:p>
                  </a:txBody>
                  <a:tcPr marL="190500" marR="190500" marT="190500" marB="190500">
                    <a:lnL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E6E8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6"/>
          <p:cNvSpPr txBox="1"/>
          <p:nvPr/>
        </p:nvSpPr>
        <p:spPr>
          <a:xfrm>
            <a:off x="1028700" y="2391956"/>
            <a:ext cx="16230600" cy="49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Interpretations of combined cell stiffness (AFM) and tCho level (MRS) findings.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95558" y="353737"/>
            <a:ext cx="15868174" cy="944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200" b="1" spc="260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OUTCOMES</a:t>
            </a:r>
          </a:p>
        </p:txBody>
      </p:sp>
      <p:sp>
        <p:nvSpPr>
          <p:cNvPr id="20" name="Slide Number Placeholder 14">
            <a:extLst>
              <a:ext uri="{FF2B5EF4-FFF2-40B4-BE49-F238E27FC236}">
                <a16:creationId xmlns:a16="http://schemas.microsoft.com/office/drawing/2014/main" id="{3D7B8D1E-D8D4-7354-D28E-B1D4C66082DC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37</a:t>
            </a:fld>
            <a:endParaRPr lang="en-US" sz="3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50836-CE8F-30AA-7BAC-C3B888D0F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0BE9A4-454C-52E5-638F-AB0F11B6AB1A}"/>
              </a:ext>
            </a:extLst>
          </p:cNvPr>
          <p:cNvGrpSpPr/>
          <p:nvPr/>
        </p:nvGrpSpPr>
        <p:grpSpPr>
          <a:xfrm>
            <a:off x="-3944078" y="1326430"/>
            <a:ext cx="21203378" cy="7634140"/>
            <a:chOff x="0" y="0"/>
            <a:chExt cx="1128752" cy="4064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1593777-ECA1-888F-5F6A-75108D1348A2}"/>
                </a:ext>
              </a:extLst>
            </p:cNvPr>
            <p:cNvSpPr/>
            <p:nvPr/>
          </p:nvSpPr>
          <p:spPr>
            <a:xfrm>
              <a:off x="0" y="0"/>
              <a:ext cx="1128752" cy="406400"/>
            </a:xfrm>
            <a:custGeom>
              <a:avLst/>
              <a:gdLst/>
              <a:ahLst/>
              <a:cxnLst/>
              <a:rect l="l" t="t" r="r" b="b"/>
              <a:pathLst>
                <a:path w="1128752" h="406400">
                  <a:moveTo>
                    <a:pt x="925552" y="0"/>
                  </a:moveTo>
                  <a:cubicBezTo>
                    <a:pt x="1037776" y="0"/>
                    <a:pt x="1128752" y="90976"/>
                    <a:pt x="1128752" y="203200"/>
                  </a:cubicBezTo>
                  <a:cubicBezTo>
                    <a:pt x="1128752" y="315424"/>
                    <a:pt x="1037776" y="406400"/>
                    <a:pt x="925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2F1F1">
                <a:alpha val="80000"/>
              </a:srgbClr>
            </a:solidFill>
          </p:spPr>
          <p:txBody>
            <a:bodyPr/>
            <a:lstStyle/>
            <a:p>
              <a:endParaRPr lang="en-CA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BB1D37B-7DC3-B99C-C274-B40C61B5C60D}"/>
                </a:ext>
              </a:extLst>
            </p:cNvPr>
            <p:cNvSpPr txBox="1"/>
            <p:nvPr/>
          </p:nvSpPr>
          <p:spPr>
            <a:xfrm>
              <a:off x="0" y="-47625"/>
              <a:ext cx="1128752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83E04F93-31B7-A29F-D413-10BDBADDBABD}"/>
              </a:ext>
            </a:extLst>
          </p:cNvPr>
          <p:cNvSpPr txBox="1"/>
          <p:nvPr/>
        </p:nvSpPr>
        <p:spPr>
          <a:xfrm>
            <a:off x="2958126" y="3970422"/>
            <a:ext cx="12371749" cy="206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238"/>
              </a:lnSpc>
            </a:pPr>
            <a:r>
              <a:rPr lang="en-US" sz="11598" b="1" spc="579">
                <a:solidFill>
                  <a:srgbClr val="000000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THANK YOU</a:t>
            </a:r>
          </a:p>
        </p:txBody>
      </p:sp>
      <p:sp>
        <p:nvSpPr>
          <p:cNvPr id="12" name="Slide Number Placeholder 14">
            <a:extLst>
              <a:ext uri="{FF2B5EF4-FFF2-40B4-BE49-F238E27FC236}">
                <a16:creationId xmlns:a16="http://schemas.microsoft.com/office/drawing/2014/main" id="{041C380A-5144-8174-2C6C-5D37F23B4297}"/>
              </a:ext>
            </a:extLst>
          </p:cNvPr>
          <p:cNvSpPr txBox="1">
            <a:spLocks/>
          </p:cNvSpPr>
          <p:nvPr/>
        </p:nvSpPr>
        <p:spPr>
          <a:xfrm>
            <a:off x="15849600" y="95681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3000" smtClean="0"/>
              <a:pPr/>
              <a:t>38</a:t>
            </a:fld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71696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810</Words>
  <Application>Microsoft Office PowerPoint</Application>
  <PresentationFormat>Custom</PresentationFormat>
  <Paragraphs>258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0" baseType="lpstr">
      <vt:lpstr>Arial</vt:lpstr>
      <vt:lpstr>Helios Extended</vt:lpstr>
      <vt:lpstr>Heebo Bold</vt:lpstr>
      <vt:lpstr>Lato Bold</vt:lpstr>
      <vt:lpstr>Canva Sans</vt:lpstr>
      <vt:lpstr>Helios Extended Bold</vt:lpstr>
      <vt:lpstr>Calibri</vt:lpstr>
      <vt:lpstr>Aptos</vt:lpstr>
      <vt:lpstr>Lato</vt:lpstr>
      <vt:lpstr>Arimo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Tasmanian Facial tumour DISEASE</dc:title>
  <cp:lastModifiedBy>keir1210@scdsb.on.ca</cp:lastModifiedBy>
  <cp:revision>2</cp:revision>
  <dcterms:created xsi:type="dcterms:W3CDTF">2006-08-16T00:00:00Z</dcterms:created>
  <dcterms:modified xsi:type="dcterms:W3CDTF">2025-04-04T14:41:01Z</dcterms:modified>
  <dc:identifier>DAGjTeczSvI</dc:identifier>
</cp:coreProperties>
</file>